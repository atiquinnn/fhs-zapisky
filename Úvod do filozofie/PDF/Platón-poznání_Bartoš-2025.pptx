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62" r:id="rId4"/>
    <p:sldId id="264" r:id="rId5"/>
    <p:sldId id="282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9"/>
  </p:normalViewPr>
  <p:slideViewPr>
    <p:cSldViewPr snapToGrid="0" snapToObjects="1">
      <p:cViewPr varScale="1">
        <p:scale>
          <a:sx n="108" d="100"/>
          <a:sy n="108" d="100"/>
        </p:scale>
        <p:origin x="176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7A1DD-6855-CB42-8EF4-985BBF1608B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3EB7A-CB9C-2746-AC9D-20D648F26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890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Click to edit Master text styles</a:t>
            </a:r>
          </a:p>
          <a:p>
            <a:pPr lvl="1"/>
            <a:r>
              <a:rPr lang="cs-CZ"/>
              <a:t>Second level</a:t>
            </a:r>
          </a:p>
          <a:p>
            <a:pPr lvl="2"/>
            <a:r>
              <a:rPr lang="cs-CZ"/>
              <a:t>Third level</a:t>
            </a:r>
          </a:p>
          <a:p>
            <a:pPr lvl="3"/>
            <a:r>
              <a:rPr lang="cs-CZ"/>
              <a:t>Fourth level</a:t>
            </a:r>
          </a:p>
          <a:p>
            <a:pPr lvl="4"/>
            <a:r>
              <a:rPr lang="cs-CZ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7A1DD-6855-CB42-8EF4-985BBF1608B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3EB7A-CB9C-2746-AC9D-20D648F26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147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7A1DD-6855-CB42-8EF4-985BBF1608B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3EB7A-CB9C-2746-AC9D-20D648F26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195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Click to edit Master text styles</a:t>
            </a:r>
          </a:p>
          <a:p>
            <a:pPr lvl="1"/>
            <a:r>
              <a:rPr lang="cs-CZ"/>
              <a:t>Second level</a:t>
            </a:r>
          </a:p>
          <a:p>
            <a:pPr lvl="2"/>
            <a:r>
              <a:rPr lang="cs-CZ"/>
              <a:t>Third level</a:t>
            </a:r>
          </a:p>
          <a:p>
            <a:pPr lvl="3"/>
            <a:r>
              <a:rPr lang="cs-CZ"/>
              <a:t>Fourth level</a:t>
            </a:r>
          </a:p>
          <a:p>
            <a:pPr lvl="4"/>
            <a:r>
              <a:rPr lang="cs-CZ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Click to edit Master text styles</a:t>
            </a:r>
          </a:p>
          <a:p>
            <a:pPr lvl="1"/>
            <a:r>
              <a:rPr lang="cs-CZ"/>
              <a:t>Second level</a:t>
            </a:r>
          </a:p>
          <a:p>
            <a:pPr lvl="2"/>
            <a:r>
              <a:rPr lang="cs-CZ"/>
              <a:t>Third level</a:t>
            </a:r>
          </a:p>
          <a:p>
            <a:pPr lvl="3"/>
            <a:r>
              <a:rPr lang="cs-CZ"/>
              <a:t>Fourth level</a:t>
            </a:r>
          </a:p>
          <a:p>
            <a:pPr lvl="4"/>
            <a:r>
              <a:rPr lang="cs-CZ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7A1DD-6855-CB42-8EF4-985BBF1608B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3EB7A-CB9C-2746-AC9D-20D648F26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913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Click to edit Master text styles</a:t>
            </a:r>
          </a:p>
          <a:p>
            <a:pPr lvl="1"/>
            <a:r>
              <a:rPr lang="cs-CZ"/>
              <a:t>Second level</a:t>
            </a:r>
          </a:p>
          <a:p>
            <a:pPr lvl="2"/>
            <a:r>
              <a:rPr lang="cs-CZ"/>
              <a:t>Third level</a:t>
            </a:r>
          </a:p>
          <a:p>
            <a:pPr lvl="3"/>
            <a:r>
              <a:rPr lang="cs-CZ"/>
              <a:t>Fourth level</a:t>
            </a:r>
          </a:p>
          <a:p>
            <a:pPr lvl="4"/>
            <a:r>
              <a:rPr lang="cs-CZ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Click to edit Master text styles</a:t>
            </a:r>
          </a:p>
          <a:p>
            <a:pPr lvl="1"/>
            <a:r>
              <a:rPr lang="cs-CZ"/>
              <a:t>Second level</a:t>
            </a:r>
          </a:p>
          <a:p>
            <a:pPr lvl="2"/>
            <a:r>
              <a:rPr lang="cs-CZ"/>
              <a:t>Third level</a:t>
            </a:r>
          </a:p>
          <a:p>
            <a:pPr lvl="3"/>
            <a:r>
              <a:rPr lang="cs-CZ"/>
              <a:t>Fourth level</a:t>
            </a:r>
          </a:p>
          <a:p>
            <a:pPr lvl="4"/>
            <a:r>
              <a:rPr lang="cs-CZ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7A1DD-6855-CB42-8EF4-985BBF1608B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3EB7A-CB9C-2746-AC9D-20D648F26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669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7A1DD-6855-CB42-8EF4-985BBF1608B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3EB7A-CB9C-2746-AC9D-20D648F26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065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7A1DD-6855-CB42-8EF4-985BBF1608B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3EB7A-CB9C-2746-AC9D-20D648F26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997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Click to edit Master text styles</a:t>
            </a:r>
          </a:p>
          <a:p>
            <a:pPr lvl="1"/>
            <a:r>
              <a:rPr lang="cs-CZ"/>
              <a:t>Second level</a:t>
            </a:r>
          </a:p>
          <a:p>
            <a:pPr lvl="2"/>
            <a:r>
              <a:rPr lang="cs-CZ"/>
              <a:t>Third level</a:t>
            </a:r>
          </a:p>
          <a:p>
            <a:pPr lvl="3"/>
            <a:r>
              <a:rPr lang="cs-CZ"/>
              <a:t>Fourth level</a:t>
            </a:r>
          </a:p>
          <a:p>
            <a:pPr lvl="4"/>
            <a:r>
              <a:rPr lang="cs-CZ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7A1DD-6855-CB42-8EF4-985BBF1608B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3EB7A-CB9C-2746-AC9D-20D648F26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986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7A1DD-6855-CB42-8EF4-985BBF1608B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3EB7A-CB9C-2746-AC9D-20D648F26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757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Click to edit Master text styles</a:t>
            </a:r>
          </a:p>
          <a:p>
            <a:pPr lvl="1"/>
            <a:r>
              <a:rPr lang="cs-CZ"/>
              <a:t>Second level</a:t>
            </a:r>
          </a:p>
          <a:p>
            <a:pPr lvl="2"/>
            <a:r>
              <a:rPr lang="cs-CZ"/>
              <a:t>Third level</a:t>
            </a:r>
          </a:p>
          <a:p>
            <a:pPr lvl="3"/>
            <a:r>
              <a:rPr lang="cs-CZ"/>
              <a:t>Fourth level</a:t>
            </a:r>
          </a:p>
          <a:p>
            <a:pPr lvl="4"/>
            <a:r>
              <a:rPr lang="cs-CZ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7A1DD-6855-CB42-8EF4-985BBF1608B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3EB7A-CB9C-2746-AC9D-20D648F26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332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/>
              <a:t>Click to edit Master text styles</a:t>
            </a:r>
          </a:p>
          <a:p>
            <a:pPr lvl="1"/>
            <a:r>
              <a:rPr lang="cs-CZ"/>
              <a:t>Second level</a:t>
            </a:r>
          </a:p>
          <a:p>
            <a:pPr lvl="2"/>
            <a:r>
              <a:rPr lang="cs-CZ"/>
              <a:t>Third level</a:t>
            </a:r>
          </a:p>
          <a:p>
            <a:pPr lvl="3"/>
            <a:r>
              <a:rPr lang="cs-CZ"/>
              <a:t>Fourth level</a:t>
            </a:r>
          </a:p>
          <a:p>
            <a:pPr lvl="4"/>
            <a:r>
              <a:rPr lang="cs-CZ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7A1DD-6855-CB42-8EF4-985BBF1608B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3EB7A-CB9C-2746-AC9D-20D648F26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555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Click to edit Master text styles</a:t>
            </a:r>
          </a:p>
          <a:p>
            <a:pPr lvl="1"/>
            <a:r>
              <a:rPr lang="cs-CZ"/>
              <a:t>Second level</a:t>
            </a:r>
          </a:p>
          <a:p>
            <a:pPr lvl="2"/>
            <a:r>
              <a:rPr lang="cs-CZ"/>
              <a:t>Third level</a:t>
            </a:r>
          </a:p>
          <a:p>
            <a:pPr lvl="3"/>
            <a:r>
              <a:rPr lang="cs-CZ"/>
              <a:t>Fourth level</a:t>
            </a:r>
          </a:p>
          <a:p>
            <a:pPr lvl="4"/>
            <a:r>
              <a:rPr lang="cs-CZ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F7A1DD-6855-CB42-8EF4-985BBF1608B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3EB7A-CB9C-2746-AC9D-20D648F26B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324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818717"/>
            <a:ext cx="7772400" cy="1470025"/>
          </a:xfrm>
        </p:spPr>
        <p:txBody>
          <a:bodyPr>
            <a:normAutofit/>
          </a:bodyPr>
          <a:lstStyle/>
          <a:p>
            <a:r>
              <a:rPr lang="en-US" sz="4800" dirty="0" err="1">
                <a:latin typeface="Palatino Linotype"/>
                <a:cs typeface="Palatino Linotype"/>
              </a:rPr>
              <a:t>Poznání</a:t>
            </a:r>
            <a:r>
              <a:rPr lang="en-US" sz="4800" dirty="0">
                <a:latin typeface="Palatino Linotype"/>
                <a:cs typeface="Palatino Linotype"/>
              </a:rPr>
              <a:t> u </a:t>
            </a:r>
            <a:r>
              <a:rPr lang="en-US" sz="4800" dirty="0" err="1">
                <a:latin typeface="Palatino Linotype"/>
                <a:cs typeface="Palatino Linotype"/>
              </a:rPr>
              <a:t>Platóna</a:t>
            </a:r>
            <a:endParaRPr lang="en-US" sz="4800" dirty="0">
              <a:latin typeface="Palatino Linotype"/>
              <a:cs typeface="Palatino Linotype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131613"/>
            <a:ext cx="6400800" cy="17526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Palatino Linotype"/>
                <a:cs typeface="Palatino Linotype"/>
              </a:rPr>
              <a:t>(od </a:t>
            </a:r>
            <a:r>
              <a:rPr lang="en-US" dirty="0" err="1">
                <a:solidFill>
                  <a:schemeClr val="tx1"/>
                </a:solidFill>
                <a:latin typeface="Palatino Linotype"/>
                <a:cs typeface="Palatino Linotype"/>
              </a:rPr>
              <a:t>Parmenida</a:t>
            </a:r>
            <a:r>
              <a:rPr lang="en-US" dirty="0">
                <a:solidFill>
                  <a:schemeClr val="tx1"/>
                </a:solidFill>
                <a:latin typeface="Palatino Linotype"/>
                <a:cs typeface="Palatino Linotype"/>
              </a:rPr>
              <a:t> k </a:t>
            </a:r>
            <a:r>
              <a:rPr lang="en-US" dirty="0" err="1">
                <a:solidFill>
                  <a:schemeClr val="tx1"/>
                </a:solidFill>
                <a:latin typeface="Palatino Linotype"/>
                <a:cs typeface="Palatino Linotype"/>
              </a:rPr>
              <a:t>Platónovi</a:t>
            </a:r>
            <a:r>
              <a:rPr lang="en-US" dirty="0">
                <a:solidFill>
                  <a:schemeClr val="tx1"/>
                </a:solidFill>
                <a:latin typeface="Palatino Linotype"/>
                <a:cs typeface="Palatino Linotype"/>
              </a:rPr>
              <a:t>)</a:t>
            </a:r>
          </a:p>
          <a:p>
            <a:endParaRPr lang="en-US" dirty="0">
              <a:solidFill>
                <a:schemeClr val="tx1"/>
              </a:solidFill>
              <a:latin typeface="Palatino Linotype"/>
              <a:cs typeface="Palatino Linotype"/>
            </a:endParaRPr>
          </a:p>
        </p:txBody>
      </p:sp>
    </p:spTree>
    <p:extLst>
      <p:ext uri="{BB962C8B-B14F-4D97-AF65-F5344CB8AC3E}">
        <p14:creationId xmlns:p14="http://schemas.microsoft.com/office/powerpoint/2010/main" val="156613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26775"/>
            <a:ext cx="8229600" cy="687551"/>
          </a:xfrm>
        </p:spPr>
        <p:txBody>
          <a:bodyPr>
            <a:normAutofit/>
          </a:bodyPr>
          <a:lstStyle/>
          <a:p>
            <a:pPr algn="l"/>
            <a:r>
              <a:rPr lang="en-US" sz="3200" dirty="0">
                <a:latin typeface="Palatino Linotype"/>
                <a:cs typeface="Palatino Linotype"/>
              </a:rPr>
              <a:t>Paradox </a:t>
            </a:r>
            <a:r>
              <a:rPr lang="en-US" sz="3200" dirty="0" err="1">
                <a:latin typeface="Palatino Linotype"/>
                <a:cs typeface="Palatino Linotype"/>
              </a:rPr>
              <a:t>Théseovy</a:t>
            </a:r>
            <a:r>
              <a:rPr lang="en-US" sz="3200" dirty="0">
                <a:latin typeface="Palatino Linotype"/>
                <a:cs typeface="Palatino Linotype"/>
              </a:rPr>
              <a:t> </a:t>
            </a:r>
            <a:r>
              <a:rPr lang="en-US" sz="3200" dirty="0" err="1">
                <a:latin typeface="Palatino Linotype"/>
                <a:cs typeface="Palatino Linotype"/>
              </a:rPr>
              <a:t>lodi</a:t>
            </a:r>
            <a:endParaRPr lang="en-US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158880"/>
            <a:ext cx="8229600" cy="4945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3749456"/>
            <a:ext cx="8229600" cy="3108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000" dirty="0" err="1">
                <a:latin typeface="Palatino Linotype"/>
                <a:cs typeface="Palatino Linotype"/>
              </a:rPr>
              <a:t>Plútarchos</a:t>
            </a:r>
            <a:r>
              <a:rPr lang="cs-CZ" sz="2000" dirty="0">
                <a:latin typeface="Palatino Linotype"/>
                <a:cs typeface="Palatino Linotype"/>
              </a:rPr>
              <a:t>,</a:t>
            </a:r>
            <a:r>
              <a:rPr lang="cs-CZ" sz="2000" i="1" dirty="0">
                <a:latin typeface="Palatino Linotype"/>
                <a:cs typeface="Palatino Linotype"/>
              </a:rPr>
              <a:t> Vita </a:t>
            </a:r>
            <a:r>
              <a:rPr lang="cs-CZ" sz="2000" i="1" dirty="0" err="1">
                <a:latin typeface="Palatino Linotype"/>
                <a:cs typeface="Palatino Linotype"/>
              </a:rPr>
              <a:t>Thesei</a:t>
            </a:r>
            <a:r>
              <a:rPr lang="cs-CZ" sz="2000" dirty="0">
                <a:latin typeface="Palatino Linotype"/>
                <a:cs typeface="Palatino Linotype"/>
              </a:rPr>
              <a:t> 23:</a:t>
            </a:r>
          </a:p>
          <a:p>
            <a:endParaRPr lang="cs-CZ" sz="2000" dirty="0">
              <a:latin typeface="Palatino Linotype"/>
              <a:cs typeface="Palatino Linotype"/>
            </a:endParaRPr>
          </a:p>
          <a:p>
            <a:r>
              <a:rPr lang="cs-CZ" sz="2000" dirty="0">
                <a:latin typeface="Palatino Linotype"/>
                <a:cs typeface="Palatino Linotype"/>
              </a:rPr>
              <a:t>„</a:t>
            </a:r>
            <a:r>
              <a:rPr lang="cs-CZ" sz="2000" dirty="0" err="1">
                <a:latin typeface="Palatino Linotype"/>
                <a:cs typeface="Palatino Linotype"/>
              </a:rPr>
              <a:t>Třicetiveslici</a:t>
            </a:r>
            <a:r>
              <a:rPr lang="cs-CZ" sz="2000" dirty="0">
                <a:latin typeface="Palatino Linotype"/>
                <a:cs typeface="Palatino Linotype"/>
              </a:rPr>
              <a:t>, na které se Théseus s mladými lidmi plavil a na níž se i šťastně vrátil, uchovávali Athéňané až do doby </a:t>
            </a:r>
            <a:r>
              <a:rPr lang="cs-CZ" sz="2000" dirty="0" err="1">
                <a:latin typeface="Palatino Linotype"/>
                <a:cs typeface="Palatino Linotype"/>
              </a:rPr>
              <a:t>Démétria</a:t>
            </a:r>
            <a:r>
              <a:rPr lang="cs-CZ" sz="2000" dirty="0">
                <a:latin typeface="Palatino Linotype"/>
                <a:cs typeface="Palatino Linotype"/>
              </a:rPr>
              <a:t> </a:t>
            </a:r>
            <a:r>
              <a:rPr lang="cs-CZ" sz="2000" dirty="0" err="1">
                <a:latin typeface="Palatino Linotype"/>
                <a:cs typeface="Palatino Linotype"/>
              </a:rPr>
              <a:t>Falérského</a:t>
            </a:r>
            <a:r>
              <a:rPr lang="cs-CZ" sz="2000" dirty="0">
                <a:latin typeface="Palatino Linotype"/>
                <a:cs typeface="Palatino Linotype"/>
              </a:rPr>
              <a:t> [360-280 př. K.]. Prkna, která shnila, vyjímali a vkládali na jejich místo jiná, pevná a spojovali je tak, že loď slouží dokonce i filosofům jako důkaz pro i proti. Jedni totiž tvrdí, že je to stále táž loď, kdežto druzí, že to již není táž loď.“</a:t>
            </a:r>
          </a:p>
          <a:p>
            <a:endParaRPr lang="cs-CZ" dirty="0"/>
          </a:p>
          <a:p>
            <a:endParaRPr lang="cs-CZ" dirty="0"/>
          </a:p>
        </p:txBody>
      </p:sp>
      <p:pic>
        <p:nvPicPr>
          <p:cNvPr id="5" name="Obrázek 1" descr="SHIP OF THESEUS - DEEP Seminar West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798" y="1342924"/>
            <a:ext cx="4158518" cy="26590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7180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1337" y="883418"/>
            <a:ext cx="8559557" cy="5723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7452" y="349686"/>
            <a:ext cx="8117774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3200" dirty="0" err="1">
                <a:latin typeface="Palatino Linotype"/>
                <a:cs typeface="Palatino Linotype"/>
              </a:rPr>
              <a:t>Hérakleitos</a:t>
            </a:r>
            <a:r>
              <a:rPr lang="cs-CZ" sz="3200" dirty="0">
                <a:latin typeface="Palatino Linotype"/>
                <a:cs typeface="Palatino Linotype"/>
              </a:rPr>
              <a:t> z </a:t>
            </a:r>
            <a:r>
              <a:rPr lang="cs-CZ" sz="3200" dirty="0" err="1">
                <a:latin typeface="Palatino Linotype"/>
                <a:cs typeface="Palatino Linotype"/>
              </a:rPr>
              <a:t>Efesu</a:t>
            </a:r>
            <a:endParaRPr lang="cs-CZ" sz="3200" dirty="0">
              <a:latin typeface="Palatino Linotype"/>
              <a:cs typeface="Palatino Linotype"/>
            </a:endParaRPr>
          </a:p>
          <a:p>
            <a:endParaRPr lang="cs-CZ" sz="2000" dirty="0">
              <a:latin typeface="Palatino Linotype"/>
              <a:cs typeface="Palatino Linotype"/>
            </a:endParaRPr>
          </a:p>
          <a:p>
            <a:r>
              <a:rPr lang="cs-CZ" sz="2000" dirty="0">
                <a:latin typeface="Palatino Linotype"/>
                <a:cs typeface="Palatino Linotype"/>
              </a:rPr>
              <a:t>B 49a: „Do týchž řek vstupujeme i nevstupujeme, </a:t>
            </a:r>
            <a:r>
              <a:rPr lang="cs-CZ" sz="2000" b="1" dirty="0">
                <a:latin typeface="Palatino Linotype"/>
                <a:cs typeface="Palatino Linotype"/>
              </a:rPr>
              <a:t>jsme i nejsme</a:t>
            </a:r>
            <a:r>
              <a:rPr lang="cs-CZ" sz="2000" dirty="0">
                <a:latin typeface="Palatino Linotype"/>
                <a:cs typeface="Palatino Linotype"/>
              </a:rPr>
              <a:t>.“	</a:t>
            </a:r>
          </a:p>
          <a:p>
            <a:r>
              <a:rPr lang="cs-CZ" sz="2000" dirty="0">
                <a:latin typeface="Palatino Linotype"/>
                <a:cs typeface="Palatino Linotype"/>
              </a:rPr>
              <a:t> </a:t>
            </a:r>
          </a:p>
          <a:p>
            <a:r>
              <a:rPr lang="cs-CZ" sz="2000" dirty="0">
                <a:latin typeface="Palatino Linotype"/>
                <a:cs typeface="Palatino Linotype"/>
              </a:rPr>
              <a:t>B 126: „Chladné se zahřívá, teplé se ochlazuje, vlhké se vysušuje, seschlé se zvlhčuje.“</a:t>
            </a:r>
          </a:p>
          <a:p>
            <a:endParaRPr lang="cs-CZ" sz="2000" dirty="0">
              <a:latin typeface="Palatino Linotype"/>
              <a:cs typeface="Palatino Linotype"/>
            </a:endParaRPr>
          </a:p>
          <a:p>
            <a:r>
              <a:rPr lang="cs-CZ" sz="3200" dirty="0" err="1">
                <a:latin typeface="Palatino Linotype"/>
                <a:cs typeface="Palatino Linotype"/>
              </a:rPr>
              <a:t>Parmenidés</a:t>
            </a:r>
            <a:r>
              <a:rPr lang="cs-CZ" sz="3200" dirty="0">
                <a:latin typeface="Palatino Linotype"/>
                <a:cs typeface="Palatino Linotype"/>
              </a:rPr>
              <a:t> z Eleje</a:t>
            </a:r>
          </a:p>
          <a:p>
            <a:endParaRPr lang="cs-CZ" sz="2000" dirty="0">
              <a:latin typeface="Palatino Linotype"/>
              <a:cs typeface="Palatino Linotype"/>
            </a:endParaRPr>
          </a:p>
          <a:p>
            <a:r>
              <a:rPr lang="cs-CZ" sz="2000" dirty="0">
                <a:latin typeface="Palatino Linotype"/>
                <a:cs typeface="Palatino Linotype"/>
              </a:rPr>
              <a:t>B 7: „Neboť nikdy nelze násilně dokázat, že věci, které nejsou, jsou, nýbrž od této cesty zkoumání musíš odvrátit svou mysl a nesmíš dovolit, aby tě zvyk, který vyrůstá z bohaté zkušenosti, donutil sestoupit na tuto cestu a vodit po ní bezcílně oko, sluch plný ozvěn i jazyk. Ne, nýbrž </a:t>
            </a:r>
            <a:r>
              <a:rPr lang="cs-CZ" sz="2000" b="1" dirty="0">
                <a:latin typeface="Palatino Linotype"/>
                <a:cs typeface="Palatino Linotype"/>
              </a:rPr>
              <a:t>posuď rozumem </a:t>
            </a:r>
            <a:r>
              <a:rPr lang="cs-CZ" sz="2000" dirty="0">
                <a:latin typeface="Palatino Linotype"/>
                <a:cs typeface="Palatino Linotype"/>
              </a:rPr>
              <a:t>(</a:t>
            </a:r>
            <a:r>
              <a:rPr lang="cs-CZ" sz="2000" i="1" dirty="0">
                <a:latin typeface="Palatino Linotype"/>
                <a:cs typeface="Palatino Linotype"/>
              </a:rPr>
              <a:t>logos</a:t>
            </a:r>
            <a:r>
              <a:rPr lang="cs-CZ" sz="2000" dirty="0">
                <a:latin typeface="Palatino Linotype"/>
                <a:cs typeface="Palatino Linotype"/>
              </a:rPr>
              <a:t>) vyvrácení, které jsem podala a které je předmětem velkého sporu.“</a:t>
            </a:r>
          </a:p>
          <a:p>
            <a:endParaRPr lang="cs-CZ" sz="2000" dirty="0">
              <a:latin typeface="Palatino Linotype"/>
              <a:cs typeface="Palatino Linotype"/>
            </a:endParaRPr>
          </a:p>
          <a:p>
            <a:r>
              <a:rPr lang="cs-CZ" sz="2000" dirty="0">
                <a:latin typeface="Palatino Linotype"/>
                <a:cs typeface="Palatino Linotype"/>
              </a:rPr>
              <a:t>B 6: „Co se má vypovídat a myslet, musí být jsoucí; </a:t>
            </a:r>
            <a:r>
              <a:rPr lang="cs-CZ" sz="2000" b="1" dirty="0">
                <a:latin typeface="Palatino Linotype"/>
                <a:cs typeface="Palatino Linotype"/>
              </a:rPr>
              <a:t>jsoucno</a:t>
            </a:r>
            <a:r>
              <a:rPr lang="cs-CZ" sz="2000" dirty="0">
                <a:latin typeface="Palatino Linotype"/>
                <a:cs typeface="Palatino Linotype"/>
              </a:rPr>
              <a:t> totiž </a:t>
            </a:r>
            <a:r>
              <a:rPr lang="cs-CZ" sz="2000" b="1" dirty="0">
                <a:latin typeface="Palatino Linotype"/>
                <a:cs typeface="Palatino Linotype"/>
              </a:rPr>
              <a:t>je</a:t>
            </a:r>
            <a:r>
              <a:rPr lang="cs-CZ" sz="2000" dirty="0">
                <a:latin typeface="Palatino Linotype"/>
                <a:cs typeface="Palatino Linotype"/>
              </a:rPr>
              <a:t>, kdežto </a:t>
            </a:r>
            <a:r>
              <a:rPr lang="cs-CZ" sz="2000" b="1" dirty="0">
                <a:latin typeface="Palatino Linotype"/>
                <a:cs typeface="Palatino Linotype"/>
              </a:rPr>
              <a:t>nejsoucno není</a:t>
            </a:r>
            <a:r>
              <a:rPr lang="cs-CZ" sz="2000" dirty="0">
                <a:latin typeface="Palatino Linotype"/>
                <a:cs typeface="Palatino Linotype"/>
              </a:rPr>
              <a:t>.“</a:t>
            </a:r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76341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7451" y="570541"/>
            <a:ext cx="8007329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000" dirty="0" err="1">
                <a:latin typeface="Palatino Linotype"/>
                <a:cs typeface="Palatino Linotype"/>
              </a:rPr>
              <a:t>Aristotelés</a:t>
            </a:r>
            <a:r>
              <a:rPr lang="cs-CZ" sz="2000" dirty="0">
                <a:latin typeface="Palatino Linotype"/>
                <a:cs typeface="Palatino Linotype"/>
              </a:rPr>
              <a:t>, </a:t>
            </a:r>
            <a:r>
              <a:rPr lang="cs-CZ" sz="2000" i="1" dirty="0">
                <a:latin typeface="Palatino Linotype"/>
                <a:cs typeface="Palatino Linotype"/>
              </a:rPr>
              <a:t>Metafyzika</a:t>
            </a:r>
            <a:r>
              <a:rPr lang="cs-CZ" sz="2000" dirty="0">
                <a:latin typeface="Palatino Linotype"/>
                <a:cs typeface="Palatino Linotype"/>
              </a:rPr>
              <a:t> I,3 983b6-28:</a:t>
            </a:r>
          </a:p>
          <a:p>
            <a:endParaRPr lang="cs-CZ" sz="2000" dirty="0">
              <a:latin typeface="Palatino Linotype"/>
              <a:cs typeface="Palatino Linotype"/>
            </a:endParaRPr>
          </a:p>
          <a:p>
            <a:pPr algn="just"/>
            <a:r>
              <a:rPr lang="cs-CZ" sz="2000" dirty="0">
                <a:latin typeface="Palatino Linotype"/>
                <a:cs typeface="Palatino Linotype"/>
              </a:rPr>
              <a:t>„Z těch, </a:t>
            </a:r>
            <a:r>
              <a:rPr lang="cs-CZ" sz="2000" b="1" dirty="0">
                <a:latin typeface="Palatino Linotype"/>
                <a:cs typeface="Palatino Linotype"/>
              </a:rPr>
              <a:t>kdo jako první začali filosofovat</a:t>
            </a:r>
            <a:r>
              <a:rPr lang="cs-CZ" sz="2000" dirty="0">
                <a:latin typeface="Palatino Linotype"/>
                <a:cs typeface="Palatino Linotype"/>
              </a:rPr>
              <a:t>, se většina domnívala, že </a:t>
            </a:r>
            <a:r>
              <a:rPr lang="cs-CZ" sz="2000" b="1" dirty="0">
                <a:latin typeface="Palatino Linotype"/>
                <a:cs typeface="Palatino Linotype"/>
              </a:rPr>
              <a:t>pouze příčiny v podobě látky </a:t>
            </a:r>
            <a:r>
              <a:rPr lang="cs-CZ" sz="2000" dirty="0">
                <a:latin typeface="Palatino Linotype"/>
                <a:cs typeface="Palatino Linotype"/>
              </a:rPr>
              <a:t>jsou příčinami všeho. Neboť z čeho všechna jsoucna jsou a z čeho jako prvního vznikají a do čeho nakonec zanikají, zatímco substance trvá a mění se pouze její stavy, o tom říkají, že je to prvek/živel a počátek jsoucen... Musí proto existovat jakási přirozenost, </a:t>
            </a:r>
            <a:r>
              <a:rPr lang="cs-CZ" sz="2000" b="1" dirty="0">
                <a:latin typeface="Palatino Linotype"/>
                <a:cs typeface="Palatino Linotype"/>
              </a:rPr>
              <a:t>buď jedna, nebo více než jedna</a:t>
            </a:r>
            <a:r>
              <a:rPr lang="cs-CZ" sz="2000" dirty="0">
                <a:latin typeface="Palatino Linotype"/>
                <a:cs typeface="Palatino Linotype"/>
              </a:rPr>
              <a:t>, ze které vznikají ostatní věci, zatímco ona zůstává zachována. O počtu a povaze takovýchto počátků však neříkají všichni totéž.“ </a:t>
            </a:r>
          </a:p>
          <a:p>
            <a:pPr algn="just"/>
            <a:endParaRPr lang="cs-CZ" sz="2000" dirty="0">
              <a:latin typeface="Palatino Linotype"/>
              <a:cs typeface="Palatino Linotype"/>
            </a:endParaRPr>
          </a:p>
          <a:p>
            <a:r>
              <a:rPr lang="cs-CZ" sz="2000" dirty="0">
                <a:latin typeface="Palatino Linotype"/>
                <a:cs typeface="Palatino Linotype"/>
              </a:rPr>
              <a:t>MONISTÉ – voda (</a:t>
            </a:r>
            <a:r>
              <a:rPr lang="cs-CZ" sz="2000" dirty="0" err="1">
                <a:latin typeface="Palatino Linotype"/>
                <a:cs typeface="Palatino Linotype"/>
              </a:rPr>
              <a:t>Thalés</a:t>
            </a:r>
            <a:r>
              <a:rPr lang="cs-CZ" sz="2000" dirty="0">
                <a:latin typeface="Palatino Linotype"/>
                <a:cs typeface="Palatino Linotype"/>
              </a:rPr>
              <a:t> z </a:t>
            </a:r>
            <a:r>
              <a:rPr lang="cs-CZ" sz="2000" dirty="0" err="1">
                <a:latin typeface="Palatino Linotype"/>
                <a:cs typeface="Palatino Linotype"/>
              </a:rPr>
              <a:t>Mílétu</a:t>
            </a:r>
            <a:r>
              <a:rPr lang="cs-CZ" sz="2000" dirty="0">
                <a:latin typeface="Palatino Linotype"/>
                <a:cs typeface="Palatino Linotype"/>
              </a:rPr>
              <a:t>), vzduch (</a:t>
            </a:r>
            <a:r>
              <a:rPr lang="cs-CZ" sz="2000" dirty="0" err="1">
                <a:latin typeface="Palatino Linotype"/>
                <a:cs typeface="Palatino Linotype"/>
              </a:rPr>
              <a:t>Anaximenés</a:t>
            </a:r>
            <a:r>
              <a:rPr lang="cs-CZ" sz="2000" dirty="0">
                <a:latin typeface="Palatino Linotype"/>
                <a:cs typeface="Palatino Linotype"/>
              </a:rPr>
              <a:t> z </a:t>
            </a:r>
            <a:r>
              <a:rPr lang="cs-CZ" sz="2000" dirty="0" err="1">
                <a:latin typeface="Palatino Linotype"/>
                <a:cs typeface="Palatino Linotype"/>
              </a:rPr>
              <a:t>Mílétu</a:t>
            </a:r>
            <a:r>
              <a:rPr lang="cs-CZ" sz="2000" dirty="0">
                <a:latin typeface="Palatino Linotype"/>
                <a:cs typeface="Palatino Linotype"/>
              </a:rPr>
              <a:t>), oheň (</a:t>
            </a:r>
            <a:r>
              <a:rPr lang="cs-CZ" sz="2000" dirty="0" err="1">
                <a:latin typeface="Palatino Linotype"/>
                <a:cs typeface="Palatino Linotype"/>
              </a:rPr>
              <a:t>Hérakleitos</a:t>
            </a:r>
            <a:r>
              <a:rPr lang="cs-CZ" sz="2000" dirty="0">
                <a:latin typeface="Palatino Linotype"/>
                <a:cs typeface="Palatino Linotype"/>
              </a:rPr>
              <a:t> z </a:t>
            </a:r>
            <a:r>
              <a:rPr lang="cs-CZ" sz="2000" dirty="0" err="1">
                <a:latin typeface="Palatino Linotype"/>
                <a:cs typeface="Palatino Linotype"/>
              </a:rPr>
              <a:t>Efesu</a:t>
            </a:r>
            <a:r>
              <a:rPr lang="cs-CZ" sz="2000" dirty="0">
                <a:latin typeface="Palatino Linotype"/>
                <a:cs typeface="Palatino Linotype"/>
              </a:rPr>
              <a:t>)</a:t>
            </a:r>
          </a:p>
          <a:p>
            <a:endParaRPr lang="cs-CZ" sz="2000" dirty="0">
              <a:latin typeface="Palatino Linotype"/>
              <a:cs typeface="Palatino Linotype"/>
            </a:endParaRPr>
          </a:p>
          <a:p>
            <a:r>
              <a:rPr lang="cs-CZ" sz="2000" dirty="0">
                <a:latin typeface="Palatino Linotype"/>
                <a:cs typeface="Palatino Linotype"/>
              </a:rPr>
              <a:t>DUALISTÉ – oheň a voda, teplo a chlad, pevné a prázdné</a:t>
            </a:r>
          </a:p>
          <a:p>
            <a:endParaRPr lang="cs-CZ" sz="2000" dirty="0">
              <a:latin typeface="Palatino Linotype"/>
              <a:cs typeface="Palatino Linotype"/>
            </a:endParaRPr>
          </a:p>
          <a:p>
            <a:r>
              <a:rPr lang="cs-CZ" sz="2000" dirty="0">
                <a:latin typeface="Palatino Linotype"/>
                <a:cs typeface="Palatino Linotype"/>
              </a:rPr>
              <a:t>PLURALISTÉ -  </a:t>
            </a:r>
            <a:r>
              <a:rPr lang="cs-CZ" sz="2000" dirty="0" err="1">
                <a:latin typeface="Palatino Linotype"/>
                <a:cs typeface="Palatino Linotype"/>
              </a:rPr>
              <a:t>Anaxagorás</a:t>
            </a:r>
            <a:r>
              <a:rPr lang="cs-CZ" sz="2000" dirty="0">
                <a:latin typeface="Palatino Linotype"/>
                <a:cs typeface="Palatino Linotype"/>
              </a:rPr>
              <a:t> z </a:t>
            </a:r>
            <a:r>
              <a:rPr lang="cs-CZ" sz="2000" dirty="0" err="1">
                <a:latin typeface="Palatino Linotype"/>
                <a:cs typeface="Palatino Linotype"/>
              </a:rPr>
              <a:t>Klazomen</a:t>
            </a:r>
            <a:endParaRPr lang="cs-CZ" sz="2000" dirty="0">
              <a:latin typeface="Palatino Linotype"/>
              <a:cs typeface="Palatino Linotype"/>
            </a:endParaRPr>
          </a:p>
          <a:p>
            <a:r>
              <a:rPr lang="cs-CZ" sz="2000" dirty="0">
                <a:latin typeface="Palatino Linotype"/>
                <a:cs typeface="Palatino Linotype"/>
              </a:rPr>
              <a:t>				</a:t>
            </a:r>
            <a:r>
              <a:rPr lang="cs-CZ" sz="2000" dirty="0" err="1">
                <a:latin typeface="Palatino Linotype"/>
                <a:cs typeface="Palatino Linotype"/>
              </a:rPr>
              <a:t>Empedoklés</a:t>
            </a:r>
            <a:r>
              <a:rPr lang="cs-CZ" sz="2000" dirty="0">
                <a:latin typeface="Palatino Linotype"/>
                <a:cs typeface="Palatino Linotype"/>
              </a:rPr>
              <a:t> z </a:t>
            </a:r>
            <a:r>
              <a:rPr lang="cs-CZ" sz="2000" dirty="0" err="1">
                <a:latin typeface="Palatino Linotype"/>
                <a:cs typeface="Palatino Linotype"/>
              </a:rPr>
              <a:t>Akragantu</a:t>
            </a:r>
            <a:endParaRPr lang="cs-CZ" sz="2000" dirty="0">
              <a:latin typeface="Palatino Linotype"/>
              <a:cs typeface="Palatino Linotype"/>
            </a:endParaRPr>
          </a:p>
          <a:p>
            <a:r>
              <a:rPr lang="cs-CZ" sz="2000" dirty="0">
                <a:latin typeface="Palatino Linotype"/>
                <a:cs typeface="Palatino Linotype"/>
              </a:rPr>
              <a:t>				</a:t>
            </a:r>
            <a:r>
              <a:rPr lang="cs-CZ" sz="2000" dirty="0" err="1">
                <a:latin typeface="Palatino Linotype"/>
                <a:cs typeface="Palatino Linotype"/>
              </a:rPr>
              <a:t>Leukippos</a:t>
            </a:r>
            <a:r>
              <a:rPr lang="cs-CZ" sz="2000" dirty="0">
                <a:latin typeface="Palatino Linotype"/>
                <a:cs typeface="Palatino Linotype"/>
              </a:rPr>
              <a:t> a </a:t>
            </a:r>
            <a:r>
              <a:rPr lang="cs-CZ" sz="2000" dirty="0" err="1">
                <a:latin typeface="Palatino Linotype"/>
                <a:cs typeface="Palatino Linotype"/>
              </a:rPr>
              <a:t>Démokritos</a:t>
            </a:r>
            <a:r>
              <a:rPr lang="cs-CZ" sz="2000" dirty="0">
                <a:latin typeface="Palatino Linotype"/>
                <a:cs typeface="Palatino Linotype"/>
              </a:rPr>
              <a:t> z Abdér</a:t>
            </a:r>
          </a:p>
          <a:p>
            <a:endParaRPr lang="en-US" sz="2000" dirty="0">
              <a:latin typeface="Palatino Linotype"/>
              <a:cs typeface="Palatino Linotype"/>
            </a:endParaRPr>
          </a:p>
        </p:txBody>
      </p:sp>
    </p:spTree>
    <p:extLst>
      <p:ext uri="{BB962C8B-B14F-4D97-AF65-F5344CB8AC3E}">
        <p14:creationId xmlns:p14="http://schemas.microsoft.com/office/powerpoint/2010/main" val="590244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52229" y="533807"/>
            <a:ext cx="8062551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3200" dirty="0" err="1">
                <a:latin typeface="Palatino Linotype"/>
                <a:cs typeface="Palatino Linotype"/>
              </a:rPr>
              <a:t>Thalés</a:t>
            </a:r>
            <a:endParaRPr lang="cs-CZ" sz="2000" dirty="0">
              <a:latin typeface="Palatino Linotype"/>
              <a:cs typeface="Palatino Linotype"/>
            </a:endParaRPr>
          </a:p>
          <a:p>
            <a:pPr algn="just"/>
            <a:r>
              <a:rPr lang="cs-CZ" sz="2000" dirty="0" err="1">
                <a:latin typeface="Palatino Linotype"/>
                <a:cs typeface="Palatino Linotype"/>
              </a:rPr>
              <a:t>Aristotelés</a:t>
            </a:r>
            <a:r>
              <a:rPr lang="cs-CZ" sz="2000" dirty="0">
                <a:latin typeface="Palatino Linotype"/>
                <a:cs typeface="Palatino Linotype"/>
              </a:rPr>
              <a:t>, </a:t>
            </a:r>
            <a:r>
              <a:rPr lang="cs-CZ" sz="2000" i="1" dirty="0" err="1">
                <a:latin typeface="Palatino Linotype"/>
                <a:cs typeface="Palatino Linotype"/>
              </a:rPr>
              <a:t>Metaf</a:t>
            </a:r>
            <a:r>
              <a:rPr lang="cs-CZ" sz="2000" dirty="0">
                <a:latin typeface="Palatino Linotype"/>
                <a:cs typeface="Palatino Linotype"/>
              </a:rPr>
              <a:t>. I,3 983b6: „</a:t>
            </a:r>
            <a:r>
              <a:rPr lang="cs-CZ" sz="2000" dirty="0" err="1">
                <a:latin typeface="Palatino Linotype"/>
                <a:cs typeface="Palatino Linotype"/>
              </a:rPr>
              <a:t>Thalés</a:t>
            </a:r>
            <a:r>
              <a:rPr lang="cs-CZ" sz="2000" dirty="0">
                <a:latin typeface="Palatino Linotype"/>
                <a:cs typeface="Palatino Linotype"/>
              </a:rPr>
              <a:t>, od něhož pochází tento způsob filosofie, tvrdí, že je to </a:t>
            </a:r>
            <a:r>
              <a:rPr lang="cs-CZ" sz="2000" b="1" dirty="0">
                <a:latin typeface="Palatino Linotype"/>
                <a:cs typeface="Palatino Linotype"/>
              </a:rPr>
              <a:t>voda</a:t>
            </a:r>
            <a:r>
              <a:rPr lang="cs-CZ" sz="2000" dirty="0">
                <a:latin typeface="Palatino Linotype"/>
                <a:cs typeface="Palatino Linotype"/>
              </a:rPr>
              <a:t>... Tuto domněnku možná pojal, když pozoroval, že </a:t>
            </a:r>
            <a:r>
              <a:rPr lang="cs-CZ" sz="2000" b="1" dirty="0">
                <a:latin typeface="Palatino Linotype"/>
                <a:cs typeface="Palatino Linotype"/>
              </a:rPr>
              <a:t>výživa</a:t>
            </a:r>
            <a:r>
              <a:rPr lang="cs-CZ" sz="2000" dirty="0">
                <a:latin typeface="Palatino Linotype"/>
                <a:cs typeface="Palatino Linotype"/>
              </a:rPr>
              <a:t> všeho </a:t>
            </a:r>
            <a:r>
              <a:rPr lang="cs-CZ" sz="2000" b="1" dirty="0">
                <a:latin typeface="Palatino Linotype"/>
                <a:cs typeface="Palatino Linotype"/>
              </a:rPr>
              <a:t>je vlhká </a:t>
            </a:r>
            <a:r>
              <a:rPr lang="cs-CZ" sz="2000" dirty="0">
                <a:latin typeface="Palatino Linotype"/>
                <a:cs typeface="Palatino Linotype"/>
              </a:rPr>
              <a:t>a že samo teplo vzniká z vlhka a vlhkem žije... Proto tedy pojal tuto domněnku a také proto, že semena všeho mají vlhkou přirozenost a že přirozeným počátkem vlhkých věcí je voda. “</a:t>
            </a:r>
          </a:p>
          <a:p>
            <a:pPr algn="just"/>
            <a:r>
              <a:rPr lang="cs-CZ" sz="2000" dirty="0">
                <a:latin typeface="Palatino Linotype"/>
                <a:cs typeface="Palatino Linotype"/>
              </a:rPr>
              <a:t> </a:t>
            </a:r>
          </a:p>
          <a:p>
            <a:pPr algn="just"/>
            <a:r>
              <a:rPr lang="cs-CZ" sz="3200" dirty="0" err="1">
                <a:latin typeface="Palatino Linotype"/>
                <a:cs typeface="Palatino Linotype"/>
              </a:rPr>
              <a:t>Anaximenés</a:t>
            </a:r>
            <a:endParaRPr lang="cs-CZ" sz="3200" dirty="0">
              <a:latin typeface="Palatino Linotype"/>
              <a:cs typeface="Palatino Linotype"/>
            </a:endParaRPr>
          </a:p>
          <a:p>
            <a:pPr algn="just"/>
            <a:r>
              <a:rPr lang="cs-CZ" sz="2000" dirty="0">
                <a:latin typeface="Palatino Linotype"/>
                <a:cs typeface="Palatino Linotype"/>
              </a:rPr>
              <a:t>A 5: „</a:t>
            </a:r>
            <a:r>
              <a:rPr lang="cs-CZ" sz="2000" dirty="0" err="1">
                <a:latin typeface="Palatino Linotype"/>
                <a:cs typeface="Palatino Linotype"/>
              </a:rPr>
              <a:t>Anaximenés</a:t>
            </a:r>
            <a:r>
              <a:rPr lang="cs-CZ" sz="2000" dirty="0">
                <a:latin typeface="Palatino Linotype"/>
                <a:cs typeface="Palatino Linotype"/>
              </a:rPr>
              <a:t> z </a:t>
            </a:r>
            <a:r>
              <a:rPr lang="cs-CZ" sz="2000" dirty="0" err="1">
                <a:latin typeface="Palatino Linotype"/>
                <a:cs typeface="Palatino Linotype"/>
              </a:rPr>
              <a:t>Mílétu</a:t>
            </a:r>
            <a:r>
              <a:rPr lang="cs-CZ" sz="2000" dirty="0">
                <a:latin typeface="Palatino Linotype"/>
                <a:cs typeface="Palatino Linotype"/>
              </a:rPr>
              <a:t>, syn </a:t>
            </a:r>
            <a:r>
              <a:rPr lang="cs-CZ" sz="2000" dirty="0" err="1">
                <a:latin typeface="Palatino Linotype"/>
                <a:cs typeface="Palatino Linotype"/>
              </a:rPr>
              <a:t>Eurystratův</a:t>
            </a:r>
            <a:r>
              <a:rPr lang="cs-CZ" sz="2000" dirty="0">
                <a:latin typeface="Palatino Linotype"/>
                <a:cs typeface="Palatino Linotype"/>
              </a:rPr>
              <a:t>, byl druhem </a:t>
            </a:r>
            <a:r>
              <a:rPr lang="cs-CZ" sz="2000" dirty="0" err="1">
                <a:latin typeface="Palatino Linotype"/>
                <a:cs typeface="Palatino Linotype"/>
              </a:rPr>
              <a:t>Anaximandrovým</a:t>
            </a:r>
            <a:r>
              <a:rPr lang="cs-CZ" sz="2000" dirty="0">
                <a:latin typeface="Palatino Linotype"/>
                <a:cs typeface="Palatino Linotype"/>
              </a:rPr>
              <a:t>. I on tvrdí, že základní přirozenost je jedna a bezmezná, stejně jako </a:t>
            </a:r>
            <a:r>
              <a:rPr lang="cs-CZ" sz="2000" dirty="0" err="1">
                <a:latin typeface="Palatino Linotype"/>
                <a:cs typeface="Palatino Linotype"/>
              </a:rPr>
              <a:t>Anaximandros</a:t>
            </a:r>
            <a:r>
              <a:rPr lang="cs-CZ" sz="2000" dirty="0">
                <a:latin typeface="Palatino Linotype"/>
                <a:cs typeface="Palatino Linotype"/>
              </a:rPr>
              <a:t>. Ne však neurčitá, jako u </a:t>
            </a:r>
            <a:r>
              <a:rPr lang="cs-CZ" sz="2000" dirty="0" err="1">
                <a:latin typeface="Palatino Linotype"/>
                <a:cs typeface="Palatino Linotype"/>
              </a:rPr>
              <a:t>Anaximandra</a:t>
            </a:r>
            <a:r>
              <a:rPr lang="cs-CZ" sz="2000" dirty="0">
                <a:latin typeface="Palatino Linotype"/>
                <a:cs typeface="Palatino Linotype"/>
              </a:rPr>
              <a:t>, ale určitá, neboť tvrdí, že je jí </a:t>
            </a:r>
            <a:r>
              <a:rPr lang="cs-CZ" sz="2000" b="1" dirty="0">
                <a:latin typeface="Palatino Linotype"/>
                <a:cs typeface="Palatino Linotype"/>
              </a:rPr>
              <a:t>vzduch</a:t>
            </a:r>
            <a:r>
              <a:rPr lang="cs-CZ" sz="2000" dirty="0">
                <a:latin typeface="Palatino Linotype"/>
                <a:cs typeface="Palatino Linotype"/>
              </a:rPr>
              <a:t>. Vzduch se pak liší řídkostí nebo hustotou podle podstat </a:t>
            </a:r>
            <a:r>
              <a:rPr lang="en-US" sz="2000" dirty="0">
                <a:latin typeface="Palatino Linotype"/>
                <a:cs typeface="Palatino Linotype"/>
              </a:rPr>
              <a:t>[</a:t>
            </a:r>
            <a:r>
              <a:rPr lang="cs-CZ" sz="2000" dirty="0">
                <a:latin typeface="Palatino Linotype"/>
                <a:cs typeface="Palatino Linotype"/>
              </a:rPr>
              <a:t>prvků a dalších věcí</a:t>
            </a:r>
            <a:r>
              <a:rPr lang="en-US" sz="2000" dirty="0">
                <a:latin typeface="Palatino Linotype"/>
                <a:cs typeface="Palatino Linotype"/>
              </a:rPr>
              <a:t>]</a:t>
            </a:r>
            <a:r>
              <a:rPr lang="cs-CZ" sz="2000" dirty="0">
                <a:latin typeface="Palatino Linotype"/>
                <a:cs typeface="Palatino Linotype"/>
              </a:rPr>
              <a:t>. Když vzduch </a:t>
            </a:r>
            <a:r>
              <a:rPr lang="cs-CZ" sz="2000" b="1" dirty="0">
                <a:latin typeface="Palatino Linotype"/>
                <a:cs typeface="Palatino Linotype"/>
              </a:rPr>
              <a:t>řídne</a:t>
            </a:r>
            <a:r>
              <a:rPr lang="cs-CZ" sz="2000" dirty="0">
                <a:latin typeface="Palatino Linotype"/>
                <a:cs typeface="Palatino Linotype"/>
              </a:rPr>
              <a:t>, vzniká oheň, když </a:t>
            </a:r>
            <a:r>
              <a:rPr lang="cs-CZ" sz="2000" b="1" dirty="0">
                <a:latin typeface="Palatino Linotype"/>
                <a:cs typeface="Palatino Linotype"/>
              </a:rPr>
              <a:t>houstne</a:t>
            </a:r>
            <a:r>
              <a:rPr lang="cs-CZ" sz="2000" dirty="0">
                <a:latin typeface="Palatino Linotype"/>
                <a:cs typeface="Palatino Linotype"/>
              </a:rPr>
              <a:t>, vzniká vítr, dále pak oblak. Když ještě více zhoustne, vzniká voda, pak země, potom kámen, a vše ostatní z těchto věcí. I on předpokládá věčný pohyb, kterým se rovněž děje přeměna.“</a:t>
            </a:r>
          </a:p>
        </p:txBody>
      </p:sp>
    </p:spTree>
    <p:extLst>
      <p:ext uri="{BB962C8B-B14F-4D97-AF65-F5344CB8AC3E}">
        <p14:creationId xmlns:p14="http://schemas.microsoft.com/office/powerpoint/2010/main" val="2186560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4290" y="3460057"/>
            <a:ext cx="2399104" cy="1601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00251" y="643901"/>
            <a:ext cx="8196410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3200" dirty="0" err="1">
                <a:latin typeface="Palatino Linotype"/>
                <a:cs typeface="Palatino Linotype"/>
              </a:rPr>
              <a:t>Anaxagorás</a:t>
            </a:r>
            <a:endParaRPr lang="cs-CZ" sz="3200" dirty="0">
              <a:latin typeface="Palatino Linotype"/>
              <a:cs typeface="Palatino Linotype"/>
            </a:endParaRPr>
          </a:p>
          <a:p>
            <a:endParaRPr lang="cs-CZ" sz="2000" dirty="0">
              <a:latin typeface="Palatino Linotype"/>
              <a:cs typeface="Palatino Linotype"/>
            </a:endParaRPr>
          </a:p>
          <a:p>
            <a:pPr algn="just"/>
            <a:r>
              <a:rPr lang="cs-CZ" sz="2000" dirty="0">
                <a:latin typeface="Palatino Linotype"/>
                <a:cs typeface="Palatino Linotype"/>
              </a:rPr>
              <a:t>A 46: „</a:t>
            </a:r>
            <a:r>
              <a:rPr lang="cs-CZ" sz="2000" dirty="0" err="1">
                <a:latin typeface="Palatino Linotype"/>
                <a:cs typeface="Palatino Linotype"/>
              </a:rPr>
              <a:t>Anaxagorás</a:t>
            </a:r>
            <a:r>
              <a:rPr lang="cs-CZ" sz="2000" dirty="0">
                <a:latin typeface="Palatino Linotype"/>
                <a:cs typeface="Palatino Linotype"/>
              </a:rPr>
              <a:t> z </a:t>
            </a:r>
            <a:r>
              <a:rPr lang="cs-CZ" sz="2000" dirty="0" err="1">
                <a:latin typeface="Palatino Linotype"/>
                <a:cs typeface="Palatino Linotype"/>
              </a:rPr>
              <a:t>Klazomen</a:t>
            </a:r>
            <a:r>
              <a:rPr lang="cs-CZ" sz="2000" dirty="0">
                <a:latin typeface="Palatino Linotype"/>
                <a:cs typeface="Palatino Linotype"/>
              </a:rPr>
              <a:t>, syn </a:t>
            </a:r>
            <a:r>
              <a:rPr lang="cs-CZ" sz="2000" dirty="0" err="1">
                <a:latin typeface="Palatino Linotype"/>
                <a:cs typeface="Palatino Linotype"/>
              </a:rPr>
              <a:t>Hégésibúlův</a:t>
            </a:r>
            <a:r>
              <a:rPr lang="cs-CZ" sz="2000" dirty="0">
                <a:latin typeface="Palatino Linotype"/>
                <a:cs typeface="Palatino Linotype"/>
              </a:rPr>
              <a:t>, prohlašoval za principy všeho </a:t>
            </a:r>
            <a:r>
              <a:rPr lang="cs-CZ" sz="2000" b="1" dirty="0">
                <a:latin typeface="Palatino Linotype"/>
                <a:cs typeface="Palatino Linotype"/>
              </a:rPr>
              <a:t>stejnorodé části</a:t>
            </a:r>
            <a:r>
              <a:rPr lang="cs-CZ" sz="2000" dirty="0">
                <a:latin typeface="Palatino Linotype"/>
                <a:cs typeface="Palatino Linotype"/>
              </a:rPr>
              <a:t> (</a:t>
            </a:r>
            <a:r>
              <a:rPr lang="cs-CZ" sz="2000" i="1" dirty="0" err="1">
                <a:latin typeface="Palatino Linotype"/>
                <a:cs typeface="Palatino Linotype"/>
              </a:rPr>
              <a:t>homoiomerie</a:t>
            </a:r>
            <a:r>
              <a:rPr lang="cs-CZ" sz="2000" dirty="0">
                <a:latin typeface="Palatino Linotype"/>
                <a:cs typeface="Palatino Linotype"/>
              </a:rPr>
              <a:t>). Zdálo se mu totiž nemožné, že by něco mohlo vzniknout z něčeho, co není, nebo zaniknout do toho, co není. Vždyť přijímáme jednoduchou potravu jednoho druhu, chléb a vodu, a z ní se živí </a:t>
            </a:r>
            <a:r>
              <a:rPr lang="cs-CZ" sz="2000" b="1" dirty="0">
                <a:latin typeface="Palatino Linotype"/>
                <a:cs typeface="Palatino Linotype"/>
              </a:rPr>
              <a:t>vlasy</a:t>
            </a:r>
            <a:r>
              <a:rPr lang="cs-CZ" sz="2000" dirty="0">
                <a:latin typeface="Palatino Linotype"/>
                <a:cs typeface="Palatino Linotype"/>
              </a:rPr>
              <a:t>, </a:t>
            </a:r>
            <a:r>
              <a:rPr lang="cs-CZ" sz="2000" b="1" dirty="0">
                <a:latin typeface="Palatino Linotype"/>
                <a:cs typeface="Palatino Linotype"/>
              </a:rPr>
              <a:t>žíly</a:t>
            </a:r>
            <a:r>
              <a:rPr lang="cs-CZ" sz="2000" dirty="0">
                <a:latin typeface="Palatino Linotype"/>
                <a:cs typeface="Palatino Linotype"/>
              </a:rPr>
              <a:t>, </a:t>
            </a:r>
            <a:r>
              <a:rPr lang="cs-CZ" sz="2000" b="1" dirty="0">
                <a:latin typeface="Palatino Linotype"/>
                <a:cs typeface="Palatino Linotype"/>
              </a:rPr>
              <a:t>tepny</a:t>
            </a:r>
            <a:r>
              <a:rPr lang="cs-CZ" sz="2000" dirty="0">
                <a:latin typeface="Palatino Linotype"/>
                <a:cs typeface="Palatino Linotype"/>
              </a:rPr>
              <a:t>, </a:t>
            </a:r>
            <a:r>
              <a:rPr lang="cs-CZ" sz="2000" b="1" dirty="0">
                <a:latin typeface="Palatino Linotype"/>
                <a:cs typeface="Palatino Linotype"/>
              </a:rPr>
              <a:t>svaly</a:t>
            </a:r>
            <a:r>
              <a:rPr lang="cs-CZ" sz="2000" dirty="0">
                <a:latin typeface="Palatino Linotype"/>
                <a:cs typeface="Palatino Linotype"/>
              </a:rPr>
              <a:t>, </a:t>
            </a:r>
            <a:r>
              <a:rPr lang="cs-CZ" sz="2000" b="1" dirty="0">
                <a:latin typeface="Palatino Linotype"/>
                <a:cs typeface="Palatino Linotype"/>
              </a:rPr>
              <a:t>šlachy</a:t>
            </a:r>
            <a:r>
              <a:rPr lang="cs-CZ" sz="2000" dirty="0">
                <a:latin typeface="Palatino Linotype"/>
                <a:cs typeface="Palatino Linotype"/>
              </a:rPr>
              <a:t>, </a:t>
            </a:r>
            <a:r>
              <a:rPr lang="cs-CZ" sz="2000" b="1" dirty="0">
                <a:latin typeface="Palatino Linotype"/>
                <a:cs typeface="Palatino Linotype"/>
              </a:rPr>
              <a:t>kosti</a:t>
            </a:r>
            <a:r>
              <a:rPr lang="cs-CZ" sz="2000" dirty="0">
                <a:latin typeface="Palatino Linotype"/>
                <a:cs typeface="Palatino Linotype"/>
              </a:rPr>
              <a:t> i ostatní části [těla]. Když se to tedy děje takto, musíme souhlasit s tím, že v potravě, kterou přijímáme, je všechno, co je; a z toho, co je, že všechno roste. V potravě jsou obsaženy podíly, které dávají zrod krvi i šlachám, kostem a ostatnímu. Tyto podíly jsou </a:t>
            </a:r>
            <a:r>
              <a:rPr lang="cs-CZ" sz="2000" dirty="0" err="1">
                <a:latin typeface="Palatino Linotype"/>
                <a:cs typeface="Palatino Linotype"/>
              </a:rPr>
              <a:t>nahlédnutelné</a:t>
            </a:r>
            <a:r>
              <a:rPr lang="cs-CZ" sz="2000" dirty="0">
                <a:latin typeface="Palatino Linotype"/>
                <a:cs typeface="Palatino Linotype"/>
              </a:rPr>
              <a:t> </a:t>
            </a:r>
            <a:r>
              <a:rPr lang="cs-CZ" sz="2000" b="1" dirty="0">
                <a:latin typeface="Palatino Linotype"/>
                <a:cs typeface="Palatino Linotype"/>
              </a:rPr>
              <a:t>rozumem</a:t>
            </a:r>
            <a:r>
              <a:rPr lang="cs-CZ" sz="2000" dirty="0">
                <a:latin typeface="Palatino Linotype"/>
                <a:cs typeface="Palatino Linotype"/>
              </a:rPr>
              <a:t>. Není totiž třeba převádět na </a:t>
            </a:r>
            <a:r>
              <a:rPr lang="cs-CZ" sz="2000" b="1" dirty="0">
                <a:latin typeface="Palatino Linotype"/>
                <a:cs typeface="Palatino Linotype"/>
              </a:rPr>
              <a:t>smyslové vnímání</a:t>
            </a:r>
            <a:r>
              <a:rPr lang="cs-CZ" sz="2000" dirty="0">
                <a:latin typeface="Palatino Linotype"/>
                <a:cs typeface="Palatino Linotype"/>
              </a:rPr>
              <a:t> všechno to, že chléb a voda toto vše zařizují, nýbrž jsou v nich obsaženy rozumem </a:t>
            </a:r>
            <a:r>
              <a:rPr lang="cs-CZ" sz="2000" dirty="0" err="1">
                <a:latin typeface="Palatino Linotype"/>
                <a:cs typeface="Palatino Linotype"/>
              </a:rPr>
              <a:t>nahlédnutelné</a:t>
            </a:r>
            <a:r>
              <a:rPr lang="cs-CZ" sz="2000" dirty="0">
                <a:latin typeface="Palatino Linotype"/>
                <a:cs typeface="Palatino Linotype"/>
              </a:rPr>
              <a:t> podíly. Protože jsou tedy části v potravě podobné částem, které z ní vznikají, nazval je </a:t>
            </a:r>
            <a:r>
              <a:rPr lang="cs-CZ" sz="2000" i="1" dirty="0" err="1">
                <a:latin typeface="Palatino Linotype"/>
                <a:cs typeface="Palatino Linotype"/>
              </a:rPr>
              <a:t>homoiomerie</a:t>
            </a:r>
            <a:r>
              <a:rPr lang="cs-CZ" sz="2000" dirty="0">
                <a:latin typeface="Palatino Linotype"/>
                <a:cs typeface="Palatino Linotype"/>
              </a:rPr>
              <a:t> [stejnorodé podíly, podobné části] a prohlašoval, že jsou principy toho, co jest. Tyto </a:t>
            </a:r>
            <a:r>
              <a:rPr lang="cs-CZ" sz="2000" i="1" dirty="0" err="1">
                <a:latin typeface="Palatino Linotype"/>
                <a:cs typeface="Palatino Linotype"/>
              </a:rPr>
              <a:t>homoiomerie</a:t>
            </a:r>
            <a:r>
              <a:rPr lang="cs-CZ" sz="2000" dirty="0">
                <a:latin typeface="Palatino Linotype"/>
                <a:cs typeface="Palatino Linotype"/>
              </a:rPr>
              <a:t> jsou </a:t>
            </a:r>
            <a:r>
              <a:rPr lang="cs-CZ" sz="2000" b="1" dirty="0">
                <a:latin typeface="Palatino Linotype"/>
                <a:cs typeface="Palatino Linotype"/>
              </a:rPr>
              <a:t>látkou</a:t>
            </a:r>
            <a:r>
              <a:rPr lang="cs-CZ" sz="2000" dirty="0">
                <a:latin typeface="Palatino Linotype"/>
                <a:cs typeface="Palatino Linotype"/>
              </a:rPr>
              <a:t>, působící příčinou je </a:t>
            </a:r>
            <a:r>
              <a:rPr lang="cs-CZ" sz="2000" b="1" dirty="0">
                <a:latin typeface="Palatino Linotype"/>
                <a:cs typeface="Palatino Linotype"/>
              </a:rPr>
              <a:t>mysl </a:t>
            </a:r>
            <a:r>
              <a:rPr lang="cs-CZ" sz="2000" dirty="0">
                <a:latin typeface="Palatino Linotype"/>
                <a:cs typeface="Palatino Linotype"/>
              </a:rPr>
              <a:t>(</a:t>
            </a:r>
            <a:r>
              <a:rPr lang="cs-CZ" sz="2000" i="1" dirty="0" err="1">
                <a:latin typeface="Palatino Linotype"/>
                <a:cs typeface="Palatino Linotype"/>
              </a:rPr>
              <a:t>nús</a:t>
            </a:r>
            <a:r>
              <a:rPr lang="cs-CZ" sz="2000" dirty="0">
                <a:latin typeface="Palatino Linotype"/>
                <a:cs typeface="Palatino Linotype"/>
              </a:rPr>
              <a:t>), která všechno uspořádala.“ </a:t>
            </a:r>
            <a:endParaRPr lang="en-US" sz="2000" dirty="0">
              <a:latin typeface="Palatino Linotype"/>
              <a:cs typeface="Palatino Linotype"/>
            </a:endParaRPr>
          </a:p>
        </p:txBody>
      </p:sp>
    </p:spTree>
    <p:extLst>
      <p:ext uri="{BB962C8B-B14F-4D97-AF65-F5344CB8AC3E}">
        <p14:creationId xmlns:p14="http://schemas.microsoft.com/office/powerpoint/2010/main" val="1890381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25860" y="377217"/>
            <a:ext cx="8080958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3200" dirty="0" err="1">
                <a:latin typeface="Palatino Linotype"/>
                <a:cs typeface="Palatino Linotype"/>
              </a:rPr>
              <a:t>Empedoklés</a:t>
            </a:r>
            <a:r>
              <a:rPr lang="cs-CZ" sz="2000" dirty="0">
                <a:latin typeface="Palatino Linotype"/>
                <a:cs typeface="Palatino Linotype"/>
              </a:rPr>
              <a:t> – oheň, vzduch, voda, země</a:t>
            </a:r>
          </a:p>
          <a:p>
            <a:endParaRPr lang="cs-CZ" sz="2000" dirty="0">
              <a:latin typeface="Palatino Linotype"/>
              <a:cs typeface="Palatino Linotype"/>
            </a:endParaRPr>
          </a:p>
          <a:p>
            <a:r>
              <a:rPr lang="cs-CZ" sz="3200" dirty="0" err="1">
                <a:latin typeface="Palatino Linotype"/>
                <a:cs typeface="Palatino Linotype"/>
              </a:rPr>
              <a:t>Leukippos</a:t>
            </a:r>
            <a:r>
              <a:rPr lang="cs-CZ" sz="3200" dirty="0">
                <a:latin typeface="Palatino Linotype"/>
                <a:cs typeface="Palatino Linotype"/>
              </a:rPr>
              <a:t> a </a:t>
            </a:r>
            <a:r>
              <a:rPr lang="cs-CZ" sz="3200" dirty="0" err="1">
                <a:latin typeface="Palatino Linotype"/>
                <a:cs typeface="Palatino Linotype"/>
              </a:rPr>
              <a:t>Démokritos</a:t>
            </a:r>
            <a:r>
              <a:rPr lang="cs-CZ" sz="2000" dirty="0">
                <a:latin typeface="Palatino Linotype"/>
                <a:cs typeface="Palatino Linotype"/>
              </a:rPr>
              <a:t> – atomy a prázdno</a:t>
            </a:r>
          </a:p>
          <a:p>
            <a:pPr algn="just"/>
            <a:endParaRPr lang="cs-CZ" sz="2000" dirty="0">
              <a:latin typeface="Palatino Linotype"/>
              <a:cs typeface="Palatino Linotype"/>
            </a:endParaRPr>
          </a:p>
          <a:p>
            <a:pPr algn="just"/>
            <a:r>
              <a:rPr lang="cs-CZ" sz="2000" dirty="0" err="1">
                <a:latin typeface="Palatino Linotype"/>
                <a:cs typeface="Palatino Linotype"/>
              </a:rPr>
              <a:t>Démokritos</a:t>
            </a:r>
            <a:r>
              <a:rPr lang="cs-CZ" sz="2000" dirty="0">
                <a:latin typeface="Palatino Linotype"/>
                <a:cs typeface="Palatino Linotype"/>
              </a:rPr>
              <a:t> A 37: „</a:t>
            </a:r>
            <a:r>
              <a:rPr lang="cs-CZ" sz="2000" dirty="0" err="1">
                <a:latin typeface="Palatino Linotype"/>
                <a:cs typeface="Palatino Linotype"/>
              </a:rPr>
              <a:t>Leukippos</a:t>
            </a:r>
            <a:r>
              <a:rPr lang="cs-CZ" sz="2000" dirty="0">
                <a:latin typeface="Palatino Linotype"/>
                <a:cs typeface="Palatino Linotype"/>
              </a:rPr>
              <a:t> a jeho stoupenec </a:t>
            </a:r>
            <a:r>
              <a:rPr lang="cs-CZ" sz="2000" dirty="0" err="1">
                <a:latin typeface="Palatino Linotype"/>
                <a:cs typeface="Palatino Linotype"/>
              </a:rPr>
              <a:t>Démokritos</a:t>
            </a:r>
            <a:r>
              <a:rPr lang="cs-CZ" sz="2000" dirty="0">
                <a:latin typeface="Palatino Linotype"/>
                <a:cs typeface="Palatino Linotype"/>
              </a:rPr>
              <a:t> tvrdí, že prvky (</a:t>
            </a:r>
            <a:r>
              <a:rPr lang="cs-CZ" sz="2000" i="1" dirty="0" err="1">
                <a:latin typeface="Palatino Linotype"/>
                <a:cs typeface="Palatino Linotype"/>
              </a:rPr>
              <a:t>stoicheia</a:t>
            </a:r>
            <a:r>
              <a:rPr lang="cs-CZ" sz="2000" dirty="0">
                <a:latin typeface="Palatino Linotype"/>
                <a:cs typeface="Palatino Linotype"/>
              </a:rPr>
              <a:t>) jsou </a:t>
            </a:r>
            <a:r>
              <a:rPr lang="cs-CZ" sz="2000" b="1" dirty="0">
                <a:latin typeface="Palatino Linotype"/>
                <a:cs typeface="Palatino Linotype"/>
              </a:rPr>
              <a:t>plno</a:t>
            </a:r>
            <a:r>
              <a:rPr lang="cs-CZ" sz="2000" dirty="0">
                <a:latin typeface="Palatino Linotype"/>
                <a:cs typeface="Palatino Linotype"/>
              </a:rPr>
              <a:t> a </a:t>
            </a:r>
            <a:r>
              <a:rPr lang="cs-CZ" sz="2000" b="1" dirty="0">
                <a:latin typeface="Palatino Linotype"/>
                <a:cs typeface="Palatino Linotype"/>
              </a:rPr>
              <a:t>prázdno</a:t>
            </a:r>
            <a:r>
              <a:rPr lang="cs-CZ" sz="2000" dirty="0">
                <a:latin typeface="Palatino Linotype"/>
                <a:cs typeface="Palatino Linotype"/>
              </a:rPr>
              <a:t>, a říkají, že plno je jsoucno a prázdno nejsoucno. Jsoucno je plné a pevné, kdežto nejsoucno je prázdné a řídké. Protože </a:t>
            </a:r>
            <a:r>
              <a:rPr lang="cs-CZ" sz="2000" b="1" dirty="0">
                <a:latin typeface="Palatino Linotype"/>
                <a:cs typeface="Palatino Linotype"/>
              </a:rPr>
              <a:t>prázdno existuje </a:t>
            </a:r>
            <a:r>
              <a:rPr lang="cs-CZ" sz="2000" dirty="0">
                <a:latin typeface="Palatino Linotype"/>
                <a:cs typeface="Palatino Linotype"/>
              </a:rPr>
              <a:t>neméně než tělo (</a:t>
            </a:r>
            <a:r>
              <a:rPr lang="cs-CZ" sz="2000" i="1" dirty="0">
                <a:latin typeface="Palatino Linotype"/>
                <a:cs typeface="Palatino Linotype"/>
              </a:rPr>
              <a:t>sóma</a:t>
            </a:r>
            <a:r>
              <a:rPr lang="cs-CZ" sz="2000" dirty="0">
                <a:latin typeface="Palatino Linotype"/>
                <a:cs typeface="Palatino Linotype"/>
              </a:rPr>
              <a:t>), plyne z toho, že nejsoucí existuje neméně než jsoucí. Obojí jsou příčinami jsoucen ve smyslu látky. A týmž způsobem jako ti, kdo substanci ve smyslu substrátu chápou jako jednu a všechno ostatní odvozují jako její stavy, přičemž za principy těchto stavů pokládají zřeďování a zhušťování, tvrdí také tito lidé, že příčinou všeho ostatního jsou rozdíly [jimiž se vyznačují jejich prvky]. Říkají, že rozdíly jsou tři: </a:t>
            </a:r>
            <a:r>
              <a:rPr lang="cs-CZ" sz="2000" b="1" dirty="0">
                <a:latin typeface="Palatino Linotype"/>
                <a:cs typeface="Palatino Linotype"/>
              </a:rPr>
              <a:t>podoba</a:t>
            </a:r>
            <a:r>
              <a:rPr lang="cs-CZ" sz="2000" dirty="0">
                <a:latin typeface="Palatino Linotype"/>
                <a:cs typeface="Palatino Linotype"/>
              </a:rPr>
              <a:t>, </a:t>
            </a:r>
            <a:r>
              <a:rPr lang="cs-CZ" sz="2000" b="1" dirty="0">
                <a:latin typeface="Palatino Linotype"/>
                <a:cs typeface="Palatino Linotype"/>
              </a:rPr>
              <a:t>uspořádání</a:t>
            </a:r>
            <a:r>
              <a:rPr lang="cs-CZ" sz="2000" dirty="0">
                <a:latin typeface="Palatino Linotype"/>
                <a:cs typeface="Palatino Linotype"/>
              </a:rPr>
              <a:t> a </a:t>
            </a:r>
            <a:r>
              <a:rPr lang="cs-CZ" sz="2000" b="1" dirty="0">
                <a:latin typeface="Palatino Linotype"/>
                <a:cs typeface="Palatino Linotype"/>
              </a:rPr>
              <a:t>poloha</a:t>
            </a:r>
            <a:r>
              <a:rPr lang="cs-CZ" sz="2000" dirty="0">
                <a:latin typeface="Palatino Linotype"/>
                <a:cs typeface="Palatino Linotype"/>
              </a:rPr>
              <a:t>. Neboť tvrdí, že jsoucno se liší pouze „útvarem, dotykem a obratem“: z toho „útvar“ je podoba, „dotyk“ je uspořádání a „obrat“ je poloha. Tak se liší A od N podobou, AN se liší od NA uspořádáním a Z od N polohou.“</a:t>
            </a:r>
          </a:p>
        </p:txBody>
      </p:sp>
    </p:spTree>
    <p:extLst>
      <p:ext uri="{BB962C8B-B14F-4D97-AF65-F5344CB8AC3E}">
        <p14:creationId xmlns:p14="http://schemas.microsoft.com/office/powerpoint/2010/main" val="2904559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99491" y="625753"/>
            <a:ext cx="797051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400" dirty="0">
                <a:latin typeface="Palatino Linotype"/>
                <a:cs typeface="Palatino Linotype"/>
              </a:rPr>
              <a:t>SMYSLY </a:t>
            </a:r>
            <a:r>
              <a:rPr lang="cs-CZ" sz="2400" dirty="0">
                <a:latin typeface="Palatino Linotype"/>
                <a:cs typeface="Palatino Linotype"/>
                <a:sym typeface="Wingdings"/>
              </a:rPr>
              <a:t></a:t>
            </a:r>
            <a:r>
              <a:rPr lang="cs-CZ" sz="2400" dirty="0">
                <a:latin typeface="Palatino Linotype"/>
                <a:cs typeface="Palatino Linotype"/>
              </a:rPr>
              <a:t> ROZUM</a:t>
            </a:r>
          </a:p>
          <a:p>
            <a:r>
              <a:rPr lang="cs-CZ" sz="2000" dirty="0">
                <a:latin typeface="Palatino Linotype"/>
                <a:cs typeface="Palatino Linotype"/>
              </a:rPr>
              <a:t> </a:t>
            </a:r>
          </a:p>
          <a:p>
            <a:endParaRPr lang="cs-CZ" sz="2000" dirty="0">
              <a:latin typeface="Palatino Linotype"/>
              <a:cs typeface="Palatino Linotype"/>
            </a:endParaRPr>
          </a:p>
          <a:p>
            <a:r>
              <a:rPr lang="cs-CZ" sz="2000" dirty="0" err="1">
                <a:latin typeface="Palatino Linotype"/>
                <a:cs typeface="Palatino Linotype"/>
              </a:rPr>
              <a:t>Anaxagorás</a:t>
            </a:r>
            <a:r>
              <a:rPr lang="cs-CZ" sz="2000" dirty="0">
                <a:latin typeface="Palatino Linotype"/>
                <a:cs typeface="Palatino Linotype"/>
              </a:rPr>
              <a:t> B 17: </a:t>
            </a:r>
          </a:p>
          <a:p>
            <a:r>
              <a:rPr lang="cs-CZ" sz="2000" dirty="0">
                <a:latin typeface="Palatino Linotype"/>
                <a:cs typeface="Palatino Linotype"/>
              </a:rPr>
              <a:t>„O vznikání a zanikání Řekové neuvažují správně. </a:t>
            </a:r>
            <a:r>
              <a:rPr lang="cs-CZ" sz="2000" b="1" dirty="0">
                <a:latin typeface="Palatino Linotype"/>
                <a:cs typeface="Palatino Linotype"/>
              </a:rPr>
              <a:t>Žádná věc totiž nevzniká ani nezaniká</a:t>
            </a:r>
            <a:r>
              <a:rPr lang="cs-CZ" sz="2000" dirty="0">
                <a:latin typeface="Palatino Linotype"/>
                <a:cs typeface="Palatino Linotype"/>
              </a:rPr>
              <a:t>, nýbrž se směšuje ze jsoucích věcí a do nich se také rozlučuje. A takto by nazývali správně vznikání </a:t>
            </a:r>
            <a:r>
              <a:rPr lang="cs-CZ" sz="2000" b="1" dirty="0">
                <a:latin typeface="Palatino Linotype"/>
                <a:cs typeface="Palatino Linotype"/>
              </a:rPr>
              <a:t>míšením</a:t>
            </a:r>
            <a:r>
              <a:rPr lang="cs-CZ" sz="2000" dirty="0">
                <a:latin typeface="Palatino Linotype"/>
                <a:cs typeface="Palatino Linotype"/>
              </a:rPr>
              <a:t> a zanikání </a:t>
            </a:r>
            <a:r>
              <a:rPr lang="cs-CZ" sz="2000" b="1" dirty="0">
                <a:latin typeface="Palatino Linotype"/>
                <a:cs typeface="Palatino Linotype"/>
              </a:rPr>
              <a:t>rozlučováním</a:t>
            </a:r>
            <a:r>
              <a:rPr lang="cs-CZ" sz="2000" dirty="0">
                <a:latin typeface="Palatino Linotype"/>
                <a:cs typeface="Palatino Linotype"/>
              </a:rPr>
              <a:t>.“</a:t>
            </a:r>
          </a:p>
          <a:p>
            <a:r>
              <a:rPr lang="cs-CZ" sz="2000" dirty="0">
                <a:latin typeface="Palatino Linotype"/>
                <a:cs typeface="Palatino Linotype"/>
              </a:rPr>
              <a:t> </a:t>
            </a:r>
          </a:p>
          <a:p>
            <a:r>
              <a:rPr lang="cs-CZ" sz="2000" dirty="0" err="1">
                <a:latin typeface="Palatino Linotype"/>
                <a:cs typeface="Palatino Linotype"/>
              </a:rPr>
              <a:t>Hippokratovský</a:t>
            </a:r>
            <a:r>
              <a:rPr lang="cs-CZ" sz="2000" dirty="0">
                <a:latin typeface="Palatino Linotype"/>
                <a:cs typeface="Palatino Linotype"/>
              </a:rPr>
              <a:t> spis, </a:t>
            </a:r>
            <a:r>
              <a:rPr lang="cs-CZ" sz="2000" i="1" dirty="0">
                <a:latin typeface="Palatino Linotype"/>
                <a:cs typeface="Palatino Linotype"/>
              </a:rPr>
              <a:t>O životosprávě</a:t>
            </a:r>
            <a:r>
              <a:rPr lang="cs-CZ" sz="2000" dirty="0">
                <a:latin typeface="Palatino Linotype"/>
                <a:cs typeface="Palatino Linotype"/>
              </a:rPr>
              <a:t> I,4: </a:t>
            </a:r>
          </a:p>
          <a:p>
            <a:r>
              <a:rPr lang="cs-CZ" sz="2000" dirty="0">
                <a:latin typeface="Palatino Linotype"/>
                <a:cs typeface="Palatino Linotype"/>
              </a:rPr>
              <a:t>„Ze všech věcí </a:t>
            </a:r>
            <a:r>
              <a:rPr lang="cs-CZ" sz="2000" b="1" dirty="0">
                <a:latin typeface="Palatino Linotype"/>
                <a:cs typeface="Palatino Linotype"/>
              </a:rPr>
              <a:t>nezaniká ani nevzniká nic, co by už nebylo dřív, vše se mění míšením a odlučováním</a:t>
            </a:r>
            <a:r>
              <a:rPr lang="cs-CZ" sz="2000" dirty="0">
                <a:latin typeface="Palatino Linotype"/>
                <a:cs typeface="Palatino Linotype"/>
              </a:rPr>
              <a:t>. Lidé se však domnívají, že to, co z Hádu přichází na světlo, se rodí a roste, a to, co ze světla odchází do Hádu, se zmenšuje a hyne. Více než </a:t>
            </a:r>
            <a:r>
              <a:rPr lang="cs-CZ" sz="2000" b="1" dirty="0">
                <a:latin typeface="Palatino Linotype"/>
                <a:cs typeface="Palatino Linotype"/>
              </a:rPr>
              <a:t>rozumu</a:t>
            </a:r>
            <a:r>
              <a:rPr lang="cs-CZ" sz="2000" dirty="0">
                <a:latin typeface="Palatino Linotype"/>
                <a:cs typeface="Palatino Linotype"/>
              </a:rPr>
              <a:t> věří totiž </a:t>
            </a:r>
            <a:r>
              <a:rPr lang="cs-CZ" sz="2000" b="1" dirty="0">
                <a:latin typeface="Palatino Linotype"/>
                <a:cs typeface="Palatino Linotype"/>
              </a:rPr>
              <a:t>očím</a:t>
            </a:r>
            <a:r>
              <a:rPr lang="cs-CZ" sz="2000" dirty="0">
                <a:latin typeface="Palatino Linotype"/>
                <a:cs typeface="Palatino Linotype"/>
              </a:rPr>
              <a:t>, které nejsou schopny soudit ani o věcech neviditelných; já však k výkladu těchto věcí užívám rozum.“</a:t>
            </a:r>
          </a:p>
        </p:txBody>
      </p:sp>
    </p:spTree>
    <p:extLst>
      <p:ext uri="{BB962C8B-B14F-4D97-AF65-F5344CB8AC3E}">
        <p14:creationId xmlns:p14="http://schemas.microsoft.com/office/powerpoint/2010/main" val="2831731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75605" y="717778"/>
            <a:ext cx="7234207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3200" dirty="0" err="1">
                <a:latin typeface="Palatino Linotype"/>
                <a:cs typeface="Palatino Linotype"/>
              </a:rPr>
              <a:t>Sókratés</a:t>
            </a:r>
            <a:r>
              <a:rPr lang="cs-CZ" sz="3200" dirty="0">
                <a:latin typeface="Palatino Linotype"/>
                <a:cs typeface="Palatino Linotype"/>
              </a:rPr>
              <a:t> </a:t>
            </a:r>
          </a:p>
          <a:p>
            <a:r>
              <a:rPr lang="cs-CZ" sz="3200" dirty="0">
                <a:latin typeface="Palatino Linotype"/>
                <a:cs typeface="Palatino Linotype"/>
              </a:rPr>
              <a:t>Platón </a:t>
            </a:r>
            <a:endParaRPr lang="cs-CZ" sz="2000" dirty="0">
              <a:latin typeface="Palatino Linotype"/>
              <a:cs typeface="Palatino Linotype"/>
            </a:endParaRPr>
          </a:p>
          <a:p>
            <a:endParaRPr lang="cs-CZ" sz="2000" dirty="0">
              <a:latin typeface="Palatino Linotype"/>
              <a:cs typeface="Palatino Linotype"/>
            </a:endParaRPr>
          </a:p>
          <a:p>
            <a:r>
              <a:rPr lang="cs-CZ" sz="2000" dirty="0">
                <a:latin typeface="Palatino Linotype"/>
                <a:cs typeface="Palatino Linotype"/>
              </a:rPr>
              <a:t>CO TO JE? =&gt; CO JE PODSTATOU</a:t>
            </a:r>
          </a:p>
          <a:p>
            <a:r>
              <a:rPr lang="cs-CZ" sz="2000" dirty="0">
                <a:latin typeface="Palatino Linotype"/>
                <a:cs typeface="Palatino Linotype"/>
              </a:rPr>
              <a:t>			/BYTNOSTÍ (</a:t>
            </a:r>
            <a:r>
              <a:rPr lang="cs-CZ" sz="2000" i="1" dirty="0">
                <a:latin typeface="Palatino Linotype"/>
                <a:cs typeface="Palatino Linotype"/>
              </a:rPr>
              <a:t>ÚSIA</a:t>
            </a:r>
            <a:r>
              <a:rPr lang="cs-CZ" sz="2000" dirty="0">
                <a:latin typeface="Palatino Linotype"/>
                <a:cs typeface="Palatino Linotype"/>
              </a:rPr>
              <a:t>)?</a:t>
            </a:r>
          </a:p>
          <a:p>
            <a:endParaRPr lang="cs-CZ" sz="2000" dirty="0">
              <a:latin typeface="Palatino Linotype"/>
              <a:cs typeface="Palatino Linotype"/>
            </a:endParaRPr>
          </a:p>
          <a:p>
            <a:r>
              <a:rPr lang="cs-CZ" sz="2000" dirty="0">
                <a:latin typeface="Palatino Linotype"/>
                <a:cs typeface="Palatino Linotype"/>
              </a:rPr>
              <a:t>JAK POZNÁME, CO JE BYTNOST? </a:t>
            </a:r>
          </a:p>
          <a:p>
            <a:endParaRPr lang="cs-CZ" sz="2000" dirty="0">
              <a:latin typeface="Palatino Linotype"/>
              <a:cs typeface="Palatino Linotype"/>
            </a:endParaRPr>
          </a:p>
          <a:p>
            <a:endParaRPr lang="cs-CZ" sz="2000" dirty="0">
              <a:latin typeface="Palatino Linotype"/>
              <a:cs typeface="Palatino Linotype"/>
            </a:endParaRPr>
          </a:p>
          <a:p>
            <a:r>
              <a:rPr lang="cs-CZ" sz="2000" dirty="0">
                <a:latin typeface="Palatino Linotype"/>
                <a:cs typeface="Palatino Linotype"/>
              </a:rPr>
              <a:t> </a:t>
            </a:r>
          </a:p>
          <a:p>
            <a:r>
              <a:rPr lang="cs-CZ" sz="2000" u="sng" dirty="0">
                <a:latin typeface="Palatino Linotype"/>
                <a:cs typeface="Palatino Linotype"/>
              </a:rPr>
              <a:t>Platónovy námitky proti smyslovému poznání přírody:</a:t>
            </a:r>
          </a:p>
          <a:p>
            <a:endParaRPr lang="cs-CZ" sz="2000" dirty="0">
              <a:latin typeface="Palatino Linotype"/>
              <a:cs typeface="Palatino Linotype"/>
            </a:endParaRPr>
          </a:p>
          <a:p>
            <a:pPr marL="457200" indent="-457200">
              <a:buAutoNum type="alphaUcParenBoth"/>
            </a:pPr>
            <a:r>
              <a:rPr lang="cs-CZ" sz="2000" dirty="0">
                <a:latin typeface="Palatino Linotype"/>
                <a:cs typeface="Palatino Linotype"/>
              </a:rPr>
              <a:t>Nemůžeme poznat nic nového (tzv. </a:t>
            </a:r>
            <a:r>
              <a:rPr lang="cs-CZ" sz="2000" dirty="0" err="1">
                <a:latin typeface="Palatino Linotype"/>
                <a:cs typeface="Palatino Linotype"/>
              </a:rPr>
              <a:t>Menónův</a:t>
            </a:r>
            <a:r>
              <a:rPr lang="cs-CZ" sz="2000" dirty="0">
                <a:latin typeface="Palatino Linotype"/>
                <a:cs typeface="Palatino Linotype"/>
              </a:rPr>
              <a:t> paradox)</a:t>
            </a:r>
          </a:p>
          <a:p>
            <a:r>
              <a:rPr lang="cs-CZ" sz="2000" dirty="0">
                <a:latin typeface="Palatino Linotype"/>
                <a:cs typeface="Palatino Linotype"/>
              </a:rPr>
              <a:t>(B) Nemůžeme poznat nic skrze smysly</a:t>
            </a:r>
          </a:p>
          <a:p>
            <a:r>
              <a:rPr lang="cs-CZ" sz="2000" dirty="0">
                <a:latin typeface="Palatino Linotype"/>
                <a:cs typeface="Palatino Linotype"/>
              </a:rPr>
              <a:t>(C) Nemůžeme poznat nic proměnlivého</a:t>
            </a:r>
          </a:p>
          <a:p>
            <a:r>
              <a:rPr lang="cs-CZ" sz="2000" dirty="0">
                <a:latin typeface="Palatino Linotype"/>
                <a:cs typeface="Palatino Linotype"/>
              </a:rPr>
              <a:t>(D) Absence účelu a teleologie</a:t>
            </a:r>
          </a:p>
        </p:txBody>
      </p:sp>
      <p:pic>
        <p:nvPicPr>
          <p:cNvPr id="4" name="Obrázek 1" descr="SHIP OF THESEUS - DEEP Seminar West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9701" y="1256604"/>
            <a:ext cx="2910111" cy="18474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9484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25860" y="907318"/>
            <a:ext cx="7933697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AutoNum type="alphaUcParenBoth"/>
            </a:pPr>
            <a:r>
              <a:rPr lang="cs-CZ" sz="2400" dirty="0">
                <a:latin typeface="Palatino Linotype"/>
                <a:cs typeface="Palatino Linotype"/>
              </a:rPr>
              <a:t> Nemůžeme poznat nic nového („</a:t>
            </a:r>
            <a:r>
              <a:rPr lang="cs-CZ" sz="2400" dirty="0" err="1">
                <a:latin typeface="Palatino Linotype"/>
                <a:cs typeface="Palatino Linotype"/>
              </a:rPr>
              <a:t>Menónův</a:t>
            </a:r>
            <a:r>
              <a:rPr lang="cs-CZ" sz="2400" dirty="0">
                <a:latin typeface="Palatino Linotype"/>
                <a:cs typeface="Palatino Linotype"/>
              </a:rPr>
              <a:t> paradox“) </a:t>
            </a:r>
          </a:p>
          <a:p>
            <a:pPr algn="just"/>
            <a:endParaRPr lang="cs-CZ" sz="2000" dirty="0">
              <a:latin typeface="Palatino Linotype"/>
              <a:cs typeface="Palatino Linotype"/>
            </a:endParaRPr>
          </a:p>
          <a:p>
            <a:pPr algn="just"/>
            <a:r>
              <a:rPr lang="cs-CZ" sz="2000" dirty="0">
                <a:latin typeface="Palatino Linotype"/>
                <a:cs typeface="Palatino Linotype"/>
              </a:rPr>
              <a:t>Platón, </a:t>
            </a:r>
            <a:r>
              <a:rPr lang="cs-CZ" sz="2000" i="1" dirty="0" err="1">
                <a:latin typeface="Palatino Linotype"/>
                <a:cs typeface="Palatino Linotype"/>
              </a:rPr>
              <a:t>Menón</a:t>
            </a:r>
            <a:r>
              <a:rPr lang="cs-CZ" sz="2000" dirty="0">
                <a:latin typeface="Palatino Linotype"/>
                <a:cs typeface="Palatino Linotype"/>
              </a:rPr>
              <a:t>, 80d4-e5:</a:t>
            </a:r>
          </a:p>
          <a:p>
            <a:pPr algn="just"/>
            <a:endParaRPr lang="cs-CZ" sz="2000" dirty="0">
              <a:latin typeface="Palatino Linotype"/>
              <a:cs typeface="Palatino Linotype"/>
            </a:endParaRPr>
          </a:p>
          <a:p>
            <a:pPr algn="just"/>
            <a:r>
              <a:rPr lang="cs-CZ" sz="2000" dirty="0">
                <a:latin typeface="Palatino Linotype"/>
                <a:cs typeface="Palatino Linotype"/>
              </a:rPr>
              <a:t>„</a:t>
            </a:r>
            <a:r>
              <a:rPr lang="cs-CZ" sz="2000" dirty="0" err="1">
                <a:latin typeface="Palatino Linotype"/>
                <a:cs typeface="Palatino Linotype"/>
              </a:rPr>
              <a:t>Men</a:t>
            </a:r>
            <a:r>
              <a:rPr lang="cs-CZ" sz="2000" dirty="0">
                <a:latin typeface="Palatino Linotype"/>
                <a:cs typeface="Palatino Linotype"/>
              </a:rPr>
              <a:t>.	A jakým způsobem budeš hledat, </a:t>
            </a:r>
            <a:r>
              <a:rPr lang="cs-CZ" sz="2000" dirty="0" err="1">
                <a:latin typeface="Palatino Linotype"/>
                <a:cs typeface="Palatino Linotype"/>
              </a:rPr>
              <a:t>Sókrate</a:t>
            </a:r>
            <a:r>
              <a:rPr lang="cs-CZ" sz="2000" dirty="0">
                <a:latin typeface="Palatino Linotype"/>
                <a:cs typeface="Palatino Linotype"/>
              </a:rPr>
              <a:t>, to, o čem vůbec nevíš, co to je? Kterou z těch věcí, které neznáš, uděláš předmětem svého hledání? Nebo i kdybys nakrásně na ni připadl, jak budeš vědět, že to je to, co jsi neznal?</a:t>
            </a:r>
          </a:p>
          <a:p>
            <a:pPr algn="just"/>
            <a:endParaRPr lang="cs-CZ" sz="2000" dirty="0">
              <a:latin typeface="Palatino Linotype"/>
              <a:cs typeface="Palatino Linotype"/>
            </a:endParaRPr>
          </a:p>
          <a:p>
            <a:pPr algn="just"/>
            <a:r>
              <a:rPr lang="cs-CZ" sz="2000" dirty="0" err="1">
                <a:latin typeface="Palatino Linotype"/>
                <a:cs typeface="Palatino Linotype"/>
              </a:rPr>
              <a:t>Sók</a:t>
            </a:r>
            <a:r>
              <a:rPr lang="cs-CZ" sz="2000" dirty="0">
                <a:latin typeface="Palatino Linotype"/>
                <a:cs typeface="Palatino Linotype"/>
              </a:rPr>
              <a:t>.	Rozumím, co chceš říci, </a:t>
            </a:r>
            <a:r>
              <a:rPr lang="cs-CZ" sz="2000" dirty="0" err="1">
                <a:latin typeface="Palatino Linotype"/>
                <a:cs typeface="Palatino Linotype"/>
              </a:rPr>
              <a:t>Menóne</a:t>
            </a:r>
            <a:r>
              <a:rPr lang="cs-CZ" sz="2000" dirty="0">
                <a:latin typeface="Palatino Linotype"/>
                <a:cs typeface="Palatino Linotype"/>
              </a:rPr>
              <a:t>. Vidíš, s jakou to přicházíš </a:t>
            </a:r>
            <a:r>
              <a:rPr lang="cs-CZ" sz="2000" dirty="0" err="1">
                <a:latin typeface="Palatino Linotype"/>
                <a:cs typeface="Palatino Linotype"/>
              </a:rPr>
              <a:t>eristickou</a:t>
            </a:r>
            <a:r>
              <a:rPr lang="cs-CZ" sz="2000" dirty="0">
                <a:latin typeface="Palatino Linotype"/>
                <a:cs typeface="Palatino Linotype"/>
              </a:rPr>
              <a:t> myšlenkou, že prý </a:t>
            </a:r>
            <a:r>
              <a:rPr lang="cs-CZ" sz="2000" b="1" dirty="0">
                <a:latin typeface="Palatino Linotype"/>
                <a:cs typeface="Palatino Linotype"/>
              </a:rPr>
              <a:t>člověku nelze hledat, ani co zná, ani co nezná</a:t>
            </a:r>
            <a:r>
              <a:rPr lang="cs-CZ" sz="2000" dirty="0">
                <a:latin typeface="Palatino Linotype"/>
                <a:cs typeface="Palatino Linotype"/>
              </a:rPr>
              <a:t>? Vždyť by nehledal, ani co zná – neboť to zná, a takovému není třeba hledání – ani co nezná – vždyť ani nezná, co by hledal.“</a:t>
            </a:r>
          </a:p>
          <a:p>
            <a:pPr algn="just"/>
            <a:endParaRPr lang="cs-CZ" sz="2000" dirty="0">
              <a:latin typeface="Palatino Linotype"/>
              <a:cs typeface="Palatino Linotype"/>
            </a:endParaRPr>
          </a:p>
          <a:p>
            <a:r>
              <a:rPr lang="cs-CZ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238662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09937" y="754587"/>
            <a:ext cx="776802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cs-CZ" sz="2000" dirty="0">
                <a:latin typeface="Palatino Linotype"/>
                <a:cs typeface="Palatino Linotype"/>
              </a:rPr>
              <a:t>Tři předpoklady Platónova řešení </a:t>
            </a:r>
            <a:r>
              <a:rPr lang="cs-CZ" sz="2000" dirty="0" err="1">
                <a:latin typeface="Palatino Linotype"/>
                <a:cs typeface="Palatino Linotype"/>
              </a:rPr>
              <a:t>Menónova</a:t>
            </a:r>
            <a:r>
              <a:rPr lang="cs-CZ" sz="2000" dirty="0">
                <a:latin typeface="Palatino Linotype"/>
                <a:cs typeface="Palatino Linotype"/>
              </a:rPr>
              <a:t> paradoxu:</a:t>
            </a:r>
          </a:p>
          <a:p>
            <a:pPr lvl="0"/>
            <a:endParaRPr lang="cs-CZ" sz="2000" dirty="0">
              <a:latin typeface="Palatino Linotype"/>
              <a:cs typeface="Palatino Linotype"/>
            </a:endParaRPr>
          </a:p>
          <a:p>
            <a:pPr marL="514350" lvl="0" indent="-514350">
              <a:buAutoNum type="romanLcParenBoth"/>
            </a:pPr>
            <a:r>
              <a:rPr lang="cs-CZ" sz="2000" dirty="0">
                <a:latin typeface="Palatino Linotype"/>
                <a:cs typeface="Palatino Linotype"/>
              </a:rPr>
              <a:t>rozlišení </a:t>
            </a:r>
            <a:r>
              <a:rPr lang="cs-CZ" sz="2000" b="1" dirty="0">
                <a:latin typeface="Palatino Linotype"/>
                <a:cs typeface="Palatino Linotype"/>
              </a:rPr>
              <a:t>tělesné</a:t>
            </a:r>
            <a:r>
              <a:rPr lang="cs-CZ" sz="2000" dirty="0">
                <a:latin typeface="Palatino Linotype"/>
                <a:cs typeface="Palatino Linotype"/>
              </a:rPr>
              <a:t>/hmotné-</a:t>
            </a:r>
            <a:r>
              <a:rPr lang="cs-CZ" sz="2000" b="1" dirty="0">
                <a:latin typeface="Palatino Linotype"/>
                <a:cs typeface="Palatino Linotype"/>
              </a:rPr>
              <a:t>netělesné</a:t>
            </a:r>
            <a:r>
              <a:rPr lang="cs-CZ" sz="2000" dirty="0">
                <a:latin typeface="Palatino Linotype"/>
                <a:cs typeface="Palatino Linotype"/>
              </a:rPr>
              <a:t>/nehmotné =&gt; </a:t>
            </a:r>
          </a:p>
          <a:p>
            <a:pPr lvl="0"/>
            <a:r>
              <a:rPr lang="cs-CZ" sz="2000" dirty="0">
                <a:latin typeface="Palatino Linotype"/>
                <a:cs typeface="Palatino Linotype"/>
              </a:rPr>
              <a:t>	dualismus:  hmota (smysly vnímatelná) </a:t>
            </a:r>
            <a:r>
              <a:rPr lang="cs-CZ" sz="2000" dirty="0" err="1">
                <a:latin typeface="Palatino Linotype"/>
                <a:cs typeface="Palatino Linotype"/>
              </a:rPr>
              <a:t>x</a:t>
            </a:r>
            <a:r>
              <a:rPr lang="cs-CZ" sz="2000" dirty="0">
                <a:latin typeface="Palatino Linotype"/>
                <a:cs typeface="Palatino Linotype"/>
              </a:rPr>
              <a:t> ideje (rozumem 	poznatelné) </a:t>
            </a:r>
          </a:p>
          <a:p>
            <a:pPr lvl="0"/>
            <a:r>
              <a:rPr lang="cs-CZ" sz="2000" dirty="0">
                <a:latin typeface="Palatino Linotype"/>
                <a:cs typeface="Palatino Linotype"/>
              </a:rPr>
              <a:t>(</a:t>
            </a:r>
            <a:r>
              <a:rPr lang="cs-CZ" sz="2000" dirty="0" err="1">
                <a:latin typeface="Palatino Linotype"/>
                <a:cs typeface="Palatino Linotype"/>
              </a:rPr>
              <a:t>ii</a:t>
            </a:r>
            <a:r>
              <a:rPr lang="cs-CZ" sz="2000" dirty="0">
                <a:latin typeface="Palatino Linotype"/>
                <a:cs typeface="Palatino Linotype"/>
              </a:rPr>
              <a:t>) koncept </a:t>
            </a:r>
            <a:r>
              <a:rPr lang="cs-CZ" sz="2000" b="1" dirty="0">
                <a:latin typeface="Palatino Linotype"/>
                <a:cs typeface="Palatino Linotype"/>
              </a:rPr>
              <a:t>nesmrtelné</a:t>
            </a:r>
            <a:r>
              <a:rPr lang="cs-CZ" sz="2000" dirty="0">
                <a:latin typeface="Palatino Linotype"/>
                <a:cs typeface="Palatino Linotype"/>
              </a:rPr>
              <a:t> a </a:t>
            </a:r>
            <a:r>
              <a:rPr lang="cs-CZ" sz="2000" b="1" dirty="0">
                <a:latin typeface="Palatino Linotype"/>
                <a:cs typeface="Palatino Linotype"/>
              </a:rPr>
              <a:t>převtělující se duše</a:t>
            </a:r>
          </a:p>
          <a:p>
            <a:pPr lvl="0"/>
            <a:r>
              <a:rPr lang="cs-CZ" sz="2000" dirty="0">
                <a:latin typeface="Palatino Linotype"/>
                <a:cs typeface="Palatino Linotype"/>
              </a:rPr>
              <a:t>(</a:t>
            </a:r>
            <a:r>
              <a:rPr lang="cs-CZ" sz="2000" dirty="0" err="1">
                <a:latin typeface="Palatino Linotype"/>
                <a:cs typeface="Palatino Linotype"/>
              </a:rPr>
              <a:t>iii</a:t>
            </a:r>
            <a:r>
              <a:rPr lang="cs-CZ" sz="2000" dirty="0">
                <a:latin typeface="Palatino Linotype"/>
                <a:cs typeface="Palatino Linotype"/>
              </a:rPr>
              <a:t>) koncept </a:t>
            </a:r>
            <a:r>
              <a:rPr lang="cs-CZ" sz="2000" b="1" dirty="0">
                <a:latin typeface="Palatino Linotype"/>
                <a:cs typeface="Palatino Linotype"/>
              </a:rPr>
              <a:t>rozpomínání</a:t>
            </a:r>
            <a:r>
              <a:rPr lang="cs-CZ" sz="2000" dirty="0">
                <a:latin typeface="Palatino Linotype"/>
                <a:cs typeface="Palatino Linotype"/>
              </a:rPr>
              <a:t> (</a:t>
            </a:r>
            <a:r>
              <a:rPr lang="cs-CZ" sz="2000" i="1" dirty="0" err="1">
                <a:latin typeface="Palatino Linotype"/>
                <a:cs typeface="Palatino Linotype"/>
              </a:rPr>
              <a:t>anamnésis</a:t>
            </a:r>
            <a:r>
              <a:rPr lang="cs-CZ" sz="2000" dirty="0">
                <a:latin typeface="Palatino Linotype"/>
                <a:cs typeface="Palatino Linotype"/>
              </a:rPr>
              <a:t>)</a:t>
            </a:r>
          </a:p>
          <a:p>
            <a:endParaRPr lang="cs-CZ" sz="2000" dirty="0">
              <a:latin typeface="Palatino Linotype"/>
              <a:cs typeface="Palatino Linotype"/>
            </a:endParaRPr>
          </a:p>
          <a:p>
            <a:endParaRPr lang="cs-CZ" sz="2000" dirty="0">
              <a:latin typeface="Palatino Linotype"/>
              <a:cs typeface="Palatino Linotype"/>
            </a:endParaRPr>
          </a:p>
          <a:p>
            <a:r>
              <a:rPr lang="cs-CZ" sz="2000" dirty="0">
                <a:latin typeface="Palatino Linotype"/>
                <a:cs typeface="Palatino Linotype"/>
              </a:rPr>
              <a:t>Platón, </a:t>
            </a:r>
            <a:r>
              <a:rPr lang="cs-CZ" sz="2000" i="1" dirty="0" err="1">
                <a:latin typeface="Palatino Linotype"/>
                <a:cs typeface="Palatino Linotype"/>
              </a:rPr>
              <a:t>Menón</a:t>
            </a:r>
            <a:r>
              <a:rPr lang="cs-CZ" sz="2000" dirty="0">
                <a:latin typeface="Palatino Linotype"/>
                <a:cs typeface="Palatino Linotype"/>
              </a:rPr>
              <a:t>, 81c4-e2:</a:t>
            </a:r>
          </a:p>
          <a:p>
            <a:pPr algn="just"/>
            <a:r>
              <a:rPr lang="cs-CZ" sz="2000" dirty="0">
                <a:latin typeface="Palatino Linotype"/>
                <a:cs typeface="Palatino Linotype"/>
              </a:rPr>
              <a:t>„Protože </a:t>
            </a:r>
            <a:r>
              <a:rPr lang="cs-CZ" sz="2000" b="1" dirty="0">
                <a:latin typeface="Palatino Linotype"/>
                <a:cs typeface="Palatino Linotype"/>
              </a:rPr>
              <a:t>je duše nesmrtelná </a:t>
            </a:r>
            <a:r>
              <a:rPr lang="cs-CZ" sz="2000" dirty="0">
                <a:latin typeface="Palatino Linotype"/>
                <a:cs typeface="Palatino Linotype"/>
              </a:rPr>
              <a:t>a mnohokrát se narodila a viděla, co je zde i co je v Hádu, i všechny věci, není nic, co by nebyla poznala; proto není nic divného, že je schopna i o zdatnosti a o jiných věcech </a:t>
            </a:r>
            <a:r>
              <a:rPr lang="cs-CZ" sz="2000" b="1" dirty="0">
                <a:latin typeface="Palatino Linotype"/>
                <a:cs typeface="Palatino Linotype"/>
              </a:rPr>
              <a:t>si vzpomenout na to, co již dříve věděla</a:t>
            </a:r>
            <a:r>
              <a:rPr lang="cs-CZ" sz="2000" dirty="0">
                <a:latin typeface="Palatino Linotype"/>
                <a:cs typeface="Palatino Linotype"/>
              </a:rPr>
              <a:t>. Protože totiž je celá příroda sourodá a duše poznala všechny věci, nic nebrání, když si člověk vzpomene toliko na jednu – což lidé nazývají učením se –, aby všechny ostatní nalezl sám, je-li statečný a neúnavný v hledání; neboť </a:t>
            </a:r>
            <a:r>
              <a:rPr lang="cs-CZ" sz="2000" b="1" dirty="0">
                <a:latin typeface="Palatino Linotype"/>
                <a:cs typeface="Palatino Linotype"/>
              </a:rPr>
              <a:t>hledání a učení s</a:t>
            </a:r>
            <a:r>
              <a:rPr lang="cs-CZ" sz="2000" dirty="0">
                <a:latin typeface="Palatino Linotype"/>
                <a:cs typeface="Palatino Linotype"/>
              </a:rPr>
              <a:t>e je tedy vůbec </a:t>
            </a:r>
            <a:r>
              <a:rPr lang="cs-CZ" sz="2000" b="1" dirty="0">
                <a:latin typeface="Palatino Linotype"/>
                <a:cs typeface="Palatino Linotype"/>
              </a:rPr>
              <a:t>vzpomínání</a:t>
            </a:r>
            <a:r>
              <a:rPr lang="cs-CZ" sz="2000" dirty="0">
                <a:latin typeface="Palatino Linotype"/>
                <a:cs typeface="Palatino Linotype"/>
              </a:rPr>
              <a:t>.“</a:t>
            </a:r>
          </a:p>
        </p:txBody>
      </p:sp>
    </p:spTree>
    <p:extLst>
      <p:ext uri="{BB962C8B-B14F-4D97-AF65-F5344CB8AC3E}">
        <p14:creationId xmlns:p14="http://schemas.microsoft.com/office/powerpoint/2010/main" val="2890843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46752" y="487807"/>
            <a:ext cx="7547136" cy="627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400" dirty="0">
                <a:latin typeface="Palatino Linotype"/>
                <a:cs typeface="Palatino Linotype"/>
              </a:rPr>
              <a:t>(B) Nemůžeme poznat nic skrze smysly</a:t>
            </a:r>
          </a:p>
          <a:p>
            <a:endParaRPr lang="cs-CZ" sz="2000" b="1" dirty="0">
              <a:latin typeface="Palatino Linotype"/>
              <a:cs typeface="Palatino Linotype"/>
            </a:endParaRPr>
          </a:p>
          <a:p>
            <a:pPr algn="just"/>
            <a:r>
              <a:rPr lang="cs-CZ" sz="2000" dirty="0">
                <a:latin typeface="Palatino Linotype"/>
                <a:cs typeface="Palatino Linotype"/>
              </a:rPr>
              <a:t>Platón, </a:t>
            </a:r>
            <a:r>
              <a:rPr lang="cs-CZ" sz="2000" i="1" dirty="0" err="1">
                <a:latin typeface="Palatino Linotype"/>
                <a:cs typeface="Palatino Linotype"/>
              </a:rPr>
              <a:t>Faidón</a:t>
            </a:r>
            <a:r>
              <a:rPr lang="cs-CZ" sz="2000" dirty="0">
                <a:latin typeface="Palatino Linotype"/>
                <a:cs typeface="Palatino Linotype"/>
              </a:rPr>
              <a:t>, 65b: „Zdalipak má pro lidi nějakou pravdu zrak a sluch, či je tomu tak, jak nám i básníci stále mluví, že </a:t>
            </a:r>
            <a:r>
              <a:rPr lang="cs-CZ" sz="2000" b="1" dirty="0">
                <a:latin typeface="Palatino Linotype"/>
                <a:cs typeface="Palatino Linotype"/>
              </a:rPr>
              <a:t>nic přesně ani neslyšme ani nevidíme</a:t>
            </a:r>
            <a:r>
              <a:rPr lang="cs-CZ" sz="2000" dirty="0">
                <a:latin typeface="Palatino Linotype"/>
                <a:cs typeface="Palatino Linotype"/>
              </a:rPr>
              <a:t>?“ </a:t>
            </a:r>
          </a:p>
          <a:p>
            <a:pPr algn="just"/>
            <a:r>
              <a:rPr lang="cs-CZ" sz="2000" dirty="0">
                <a:latin typeface="Palatino Linotype"/>
                <a:cs typeface="Palatino Linotype"/>
              </a:rPr>
              <a:t> </a:t>
            </a:r>
          </a:p>
          <a:p>
            <a:pPr algn="just"/>
            <a:r>
              <a:rPr lang="cs-CZ" sz="2000" dirty="0">
                <a:latin typeface="Palatino Linotype"/>
                <a:cs typeface="Palatino Linotype"/>
              </a:rPr>
              <a:t>Platón, </a:t>
            </a:r>
            <a:r>
              <a:rPr lang="cs-CZ" sz="2000" i="1" dirty="0" err="1">
                <a:latin typeface="Palatino Linotype"/>
                <a:cs typeface="Palatino Linotype"/>
              </a:rPr>
              <a:t>Faidón</a:t>
            </a:r>
            <a:r>
              <a:rPr lang="cs-CZ" sz="2000" dirty="0">
                <a:latin typeface="Palatino Linotype"/>
                <a:cs typeface="Palatino Linotype"/>
              </a:rPr>
              <a:t>, 83a: „Milovníci vědění totiž poznávají, že filosofie přijala jejich duši docela spoutanou v těle… a snaží se ji vyprostiti, dokazujíc jí, že </a:t>
            </a:r>
            <a:r>
              <a:rPr lang="cs-CZ" sz="2000" b="1" dirty="0">
                <a:latin typeface="Palatino Linotype"/>
                <a:cs typeface="Palatino Linotype"/>
              </a:rPr>
              <a:t>plno klamu </a:t>
            </a:r>
            <a:r>
              <a:rPr lang="cs-CZ" sz="2000" dirty="0">
                <a:latin typeface="Palatino Linotype"/>
                <a:cs typeface="Palatino Linotype"/>
              </a:rPr>
              <a:t>jest pozorování konané </a:t>
            </a:r>
            <a:r>
              <a:rPr lang="cs-CZ" sz="2000" b="1" dirty="0">
                <a:latin typeface="Palatino Linotype"/>
                <a:cs typeface="Palatino Linotype"/>
              </a:rPr>
              <a:t>očima</a:t>
            </a:r>
            <a:r>
              <a:rPr lang="cs-CZ" sz="2000" dirty="0">
                <a:latin typeface="Palatino Linotype"/>
                <a:cs typeface="Palatino Linotype"/>
              </a:rPr>
              <a:t>, plno klamu pozorování konané </a:t>
            </a:r>
            <a:r>
              <a:rPr lang="cs-CZ" sz="2000" b="1" dirty="0">
                <a:latin typeface="Palatino Linotype"/>
                <a:cs typeface="Palatino Linotype"/>
              </a:rPr>
              <a:t>ušima</a:t>
            </a:r>
            <a:r>
              <a:rPr lang="cs-CZ" sz="2000" dirty="0">
                <a:latin typeface="Palatino Linotype"/>
                <a:cs typeface="Palatino Linotype"/>
              </a:rPr>
              <a:t> i ostatními </a:t>
            </a:r>
            <a:r>
              <a:rPr lang="cs-CZ" sz="2000" b="1" dirty="0">
                <a:latin typeface="Palatino Linotype"/>
                <a:cs typeface="Palatino Linotype"/>
              </a:rPr>
              <a:t>smysly</a:t>
            </a:r>
            <a:r>
              <a:rPr lang="cs-CZ" sz="2000" dirty="0">
                <a:latin typeface="Palatino Linotype"/>
                <a:cs typeface="Palatino Linotype"/>
              </a:rPr>
              <a:t>…“ </a:t>
            </a:r>
          </a:p>
          <a:p>
            <a:pPr algn="just"/>
            <a:r>
              <a:rPr lang="cs-CZ" sz="2000" dirty="0">
                <a:latin typeface="Palatino Linotype"/>
                <a:cs typeface="Palatino Linotype"/>
              </a:rPr>
              <a:t> </a:t>
            </a:r>
          </a:p>
          <a:p>
            <a:pPr algn="just"/>
            <a:r>
              <a:rPr lang="cs-CZ" sz="2000" dirty="0">
                <a:latin typeface="Palatino Linotype"/>
                <a:cs typeface="Palatino Linotype"/>
              </a:rPr>
              <a:t>Platón, </a:t>
            </a:r>
            <a:r>
              <a:rPr lang="cs-CZ" sz="2000" i="1" dirty="0" err="1">
                <a:latin typeface="Palatino Linotype"/>
                <a:cs typeface="Palatino Linotype"/>
              </a:rPr>
              <a:t>Faidón</a:t>
            </a:r>
            <a:r>
              <a:rPr lang="cs-CZ" sz="2000" dirty="0">
                <a:latin typeface="Palatino Linotype"/>
                <a:cs typeface="Palatino Linotype"/>
              </a:rPr>
              <a:t>, 65e-66a: „Jistě tedy by to nejčistěji udělal ten, kdo by šel na každý předmět co nejvíce </a:t>
            </a:r>
            <a:r>
              <a:rPr lang="cs-CZ" sz="2000" b="1" dirty="0">
                <a:latin typeface="Palatino Linotype"/>
                <a:cs typeface="Palatino Linotype"/>
              </a:rPr>
              <a:t>samotným myšlením</a:t>
            </a:r>
            <a:r>
              <a:rPr lang="cs-CZ" sz="2000" dirty="0">
                <a:latin typeface="Palatino Linotype"/>
                <a:cs typeface="Palatino Linotype"/>
              </a:rPr>
              <a:t>, nepřibíraje při přemýšlení ani </a:t>
            </a:r>
            <a:r>
              <a:rPr lang="cs-CZ" sz="2000" b="1" dirty="0">
                <a:latin typeface="Palatino Linotype"/>
                <a:cs typeface="Palatino Linotype"/>
              </a:rPr>
              <a:t>žádný zrakový vjem </a:t>
            </a:r>
            <a:r>
              <a:rPr lang="cs-CZ" sz="2000" dirty="0">
                <a:latin typeface="Palatino Linotype"/>
                <a:cs typeface="Palatino Linotype"/>
              </a:rPr>
              <a:t>ani nevláčeje s rozumovou činností žádný jiný </a:t>
            </a:r>
            <a:r>
              <a:rPr lang="cs-CZ" sz="2000" b="1" dirty="0">
                <a:latin typeface="Palatino Linotype"/>
                <a:cs typeface="Palatino Linotype"/>
              </a:rPr>
              <a:t>smyslový počitek</a:t>
            </a:r>
            <a:r>
              <a:rPr lang="cs-CZ" sz="2000" dirty="0">
                <a:latin typeface="Palatino Linotype"/>
                <a:cs typeface="Palatino Linotype"/>
              </a:rPr>
              <a:t>, nýbrž kdo by se snažil </a:t>
            </a:r>
            <a:r>
              <a:rPr lang="cs-CZ" sz="2000" b="1" dirty="0">
                <a:latin typeface="Palatino Linotype"/>
                <a:cs typeface="Palatino Linotype"/>
              </a:rPr>
              <a:t>čistým myšlením samým o sobě </a:t>
            </a:r>
            <a:r>
              <a:rPr lang="cs-CZ" sz="2000" dirty="0">
                <a:latin typeface="Palatino Linotype"/>
                <a:cs typeface="Palatino Linotype"/>
              </a:rPr>
              <a:t>lovit každé jednotlivé ze jsoucen čisté, a samo o sobě, jsa co nejvíce odloučen od očí i uší a abych tak řekl od veškerého těla…“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39565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17898" y="460867"/>
            <a:ext cx="7786436" cy="6309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400" dirty="0">
                <a:latin typeface="Palatino Linotype"/>
                <a:cs typeface="Palatino Linotype"/>
              </a:rPr>
              <a:t>(C) Nemůžeme poznat nic proměnlivého</a:t>
            </a:r>
          </a:p>
          <a:p>
            <a:r>
              <a:rPr lang="cs-CZ" sz="2000" b="1" dirty="0">
                <a:latin typeface="Palatino Linotype"/>
                <a:cs typeface="Palatino Linotype"/>
              </a:rPr>
              <a:t> </a:t>
            </a:r>
            <a:endParaRPr lang="cs-CZ" sz="2000" dirty="0">
              <a:latin typeface="Palatino Linotype"/>
              <a:cs typeface="Palatino Linotype"/>
            </a:endParaRPr>
          </a:p>
          <a:p>
            <a:pPr algn="just"/>
            <a:r>
              <a:rPr lang="cs-CZ" sz="2000" dirty="0">
                <a:latin typeface="Palatino Linotype"/>
                <a:cs typeface="Palatino Linotype"/>
              </a:rPr>
              <a:t>Platón, </a:t>
            </a:r>
            <a:r>
              <a:rPr lang="cs-CZ" sz="2000" i="1" dirty="0" err="1">
                <a:latin typeface="Palatino Linotype"/>
                <a:cs typeface="Palatino Linotype"/>
              </a:rPr>
              <a:t>Filébos</a:t>
            </a:r>
            <a:r>
              <a:rPr lang="cs-CZ" sz="2000" dirty="0">
                <a:latin typeface="Palatino Linotype"/>
                <a:cs typeface="Palatino Linotype"/>
              </a:rPr>
              <a:t>, 58e5-59b8: 	</a:t>
            </a:r>
            <a:r>
              <a:rPr lang="cs-CZ" sz="2000" dirty="0" err="1">
                <a:latin typeface="Palatino Linotype"/>
                <a:cs typeface="Palatino Linotype"/>
              </a:rPr>
              <a:t>Sókr</a:t>
            </a:r>
            <a:r>
              <a:rPr lang="cs-CZ" sz="2000" dirty="0">
                <a:latin typeface="Palatino Linotype"/>
                <a:cs typeface="Palatino Linotype"/>
              </a:rPr>
              <a:t>.	Zdalipak jsi měl na mysli to, že většina umění (</a:t>
            </a:r>
            <a:r>
              <a:rPr lang="cs-CZ" sz="2000" i="1" dirty="0" err="1">
                <a:latin typeface="Palatino Linotype"/>
                <a:cs typeface="Palatino Linotype"/>
              </a:rPr>
              <a:t>technai</a:t>
            </a:r>
            <a:r>
              <a:rPr lang="cs-CZ" sz="2000" dirty="0">
                <a:latin typeface="Palatino Linotype"/>
                <a:cs typeface="Palatino Linotype"/>
              </a:rPr>
              <a:t>) i většina těch, kteří se těmito věcmi zabývají, předně užívají pouhých </a:t>
            </a:r>
            <a:r>
              <a:rPr lang="cs-CZ" sz="2000" b="1" dirty="0">
                <a:latin typeface="Palatino Linotype"/>
                <a:cs typeface="Palatino Linotype"/>
              </a:rPr>
              <a:t>mínění</a:t>
            </a:r>
            <a:r>
              <a:rPr lang="cs-CZ" sz="2000" dirty="0">
                <a:latin typeface="Palatino Linotype"/>
                <a:cs typeface="Palatino Linotype"/>
              </a:rPr>
              <a:t> a s napětím sil hledají, co souvisí s míněním. A jestliže se někdo domnívá, že bádá o přírodě, víš, že po celý život bádá jen o tomto světě, jak vznikl, jak se s ním co děje i jak je činný, uznali bychom to, či jak?	</a:t>
            </a:r>
            <a:r>
              <a:rPr lang="cs-CZ" sz="2000" dirty="0" err="1">
                <a:latin typeface="Palatino Linotype"/>
                <a:cs typeface="Palatino Linotype"/>
              </a:rPr>
              <a:t>Prótarch</a:t>
            </a:r>
            <a:r>
              <a:rPr lang="cs-CZ" sz="2000" dirty="0">
                <a:latin typeface="Palatino Linotype"/>
                <a:cs typeface="Palatino Linotype"/>
              </a:rPr>
              <a:t>.	Ano.</a:t>
            </a:r>
          </a:p>
          <a:p>
            <a:pPr algn="just"/>
            <a:r>
              <a:rPr lang="cs-CZ" sz="2000" dirty="0" err="1">
                <a:latin typeface="Palatino Linotype"/>
                <a:cs typeface="Palatino Linotype"/>
              </a:rPr>
              <a:t>Sókr</a:t>
            </a:r>
            <a:r>
              <a:rPr lang="cs-CZ" sz="2000" dirty="0">
                <a:latin typeface="Palatino Linotype"/>
                <a:cs typeface="Palatino Linotype"/>
              </a:rPr>
              <a:t>.	Takový badatel tedy vynakládá práci nikoli na to, co stále jest, nýbrž na to, co se děje, co se stane i co se stalo?</a:t>
            </a:r>
          </a:p>
          <a:p>
            <a:pPr algn="just"/>
            <a:r>
              <a:rPr lang="cs-CZ" sz="2000" dirty="0" err="1">
                <a:latin typeface="Palatino Linotype"/>
                <a:cs typeface="Palatino Linotype"/>
              </a:rPr>
              <a:t>Prótarch</a:t>
            </a:r>
            <a:r>
              <a:rPr lang="cs-CZ" sz="2000" dirty="0">
                <a:latin typeface="Palatino Linotype"/>
                <a:cs typeface="Palatino Linotype"/>
              </a:rPr>
              <a:t>.	 Zcela správně.</a:t>
            </a:r>
          </a:p>
          <a:p>
            <a:pPr algn="just"/>
            <a:r>
              <a:rPr lang="cs-CZ" sz="2000" dirty="0" err="1">
                <a:latin typeface="Palatino Linotype"/>
                <a:cs typeface="Palatino Linotype"/>
              </a:rPr>
              <a:t>Sókr</a:t>
            </a:r>
            <a:r>
              <a:rPr lang="cs-CZ" sz="2000" dirty="0">
                <a:latin typeface="Palatino Linotype"/>
                <a:cs typeface="Palatino Linotype"/>
              </a:rPr>
              <a:t>.	Mohli bychom říci, že se vyskytuje </a:t>
            </a:r>
            <a:r>
              <a:rPr lang="cs-CZ" sz="2000" b="1" dirty="0">
                <a:latin typeface="Palatino Linotype"/>
                <a:cs typeface="Palatino Linotype"/>
              </a:rPr>
              <a:t>něco jistého </a:t>
            </a:r>
            <a:r>
              <a:rPr lang="cs-CZ" sz="2000" dirty="0">
                <a:latin typeface="Palatino Linotype"/>
                <a:cs typeface="Palatino Linotype"/>
              </a:rPr>
              <a:t>ve smyslu </a:t>
            </a:r>
            <a:r>
              <a:rPr lang="cs-CZ" sz="2000" b="1" dirty="0">
                <a:latin typeface="Palatino Linotype"/>
                <a:cs typeface="Palatino Linotype"/>
              </a:rPr>
              <a:t>nejpřesnější pravdy </a:t>
            </a:r>
            <a:r>
              <a:rPr lang="cs-CZ" sz="2000" dirty="0">
                <a:latin typeface="Palatino Linotype"/>
                <a:cs typeface="Palatino Linotype"/>
              </a:rPr>
              <a:t>mezi těmi věcmi, </a:t>
            </a:r>
            <a:r>
              <a:rPr lang="cs-CZ" sz="2000" b="1" dirty="0">
                <a:latin typeface="Palatino Linotype"/>
                <a:cs typeface="Palatino Linotype"/>
              </a:rPr>
              <a:t>z kterých nikdy nic nebylo v neproměnném stavu, ani nebude, ani v přítomnosti není</a:t>
            </a:r>
            <a:r>
              <a:rPr lang="cs-CZ" sz="2000" dirty="0">
                <a:latin typeface="Palatino Linotype"/>
                <a:cs typeface="Palatino Linotype"/>
              </a:rPr>
              <a:t>?</a:t>
            </a:r>
          </a:p>
          <a:p>
            <a:pPr algn="just"/>
            <a:r>
              <a:rPr lang="cs-CZ" sz="2000" dirty="0" err="1">
                <a:latin typeface="Palatino Linotype"/>
                <a:cs typeface="Palatino Linotype"/>
              </a:rPr>
              <a:t>Prótarch</a:t>
            </a:r>
            <a:r>
              <a:rPr lang="cs-CZ" sz="2000" dirty="0">
                <a:latin typeface="Palatino Linotype"/>
                <a:cs typeface="Palatino Linotype"/>
              </a:rPr>
              <a:t>.	A jak bychom mohli?</a:t>
            </a:r>
          </a:p>
          <a:p>
            <a:pPr algn="just"/>
            <a:r>
              <a:rPr lang="cs-CZ" sz="2000" dirty="0" err="1">
                <a:latin typeface="Palatino Linotype"/>
                <a:cs typeface="Palatino Linotype"/>
              </a:rPr>
              <a:t>Sókr</a:t>
            </a:r>
            <a:r>
              <a:rPr lang="cs-CZ" sz="2000" dirty="0">
                <a:latin typeface="Palatino Linotype"/>
                <a:cs typeface="Palatino Linotype"/>
              </a:rPr>
              <a:t>. 	Tedy jak by se nám kdy mohlo dostati něčeho stálého o těch věcech, které nemají ani nejmenší stálosti?</a:t>
            </a:r>
          </a:p>
          <a:p>
            <a:pPr algn="just"/>
            <a:r>
              <a:rPr lang="cs-CZ" sz="2000" dirty="0" err="1">
                <a:latin typeface="Palatino Linotype"/>
                <a:cs typeface="Palatino Linotype"/>
              </a:rPr>
              <a:t>Prótarch</a:t>
            </a:r>
            <a:r>
              <a:rPr lang="cs-CZ" sz="2000" dirty="0">
                <a:latin typeface="Palatino Linotype"/>
                <a:cs typeface="Palatino Linotype"/>
              </a:rPr>
              <a:t>.	Myslím, že nijak.</a:t>
            </a:r>
          </a:p>
          <a:p>
            <a:pPr algn="just"/>
            <a:r>
              <a:rPr lang="cs-CZ" sz="2000" dirty="0" err="1">
                <a:latin typeface="Palatino Linotype"/>
                <a:cs typeface="Palatino Linotype"/>
              </a:rPr>
              <a:t>Sókr</a:t>
            </a:r>
            <a:r>
              <a:rPr lang="cs-CZ" sz="2000" dirty="0">
                <a:latin typeface="Palatino Linotype"/>
                <a:cs typeface="Palatino Linotype"/>
              </a:rPr>
              <a:t>.	Ty tedy </a:t>
            </a:r>
            <a:r>
              <a:rPr lang="cs-CZ" sz="2000" b="1" dirty="0">
                <a:latin typeface="Palatino Linotype"/>
                <a:cs typeface="Palatino Linotype"/>
              </a:rPr>
              <a:t>nemohou být předmětem </a:t>
            </a:r>
            <a:r>
              <a:rPr lang="cs-CZ" sz="2000" dirty="0">
                <a:latin typeface="Palatino Linotype"/>
                <a:cs typeface="Palatino Linotype"/>
              </a:rPr>
              <a:t>ani</a:t>
            </a:r>
            <a:r>
              <a:rPr lang="cs-CZ" sz="2000" b="1" dirty="0">
                <a:latin typeface="Palatino Linotype"/>
                <a:cs typeface="Palatino Linotype"/>
              </a:rPr>
              <a:t> rozumu</a:t>
            </a:r>
            <a:r>
              <a:rPr lang="cs-CZ" sz="2000" dirty="0">
                <a:latin typeface="Palatino Linotype"/>
                <a:cs typeface="Palatino Linotype"/>
              </a:rPr>
              <a:t>, ani žádného </a:t>
            </a:r>
            <a:r>
              <a:rPr lang="cs-CZ" sz="2000" b="1" dirty="0">
                <a:latin typeface="Palatino Linotype"/>
                <a:cs typeface="Palatino Linotype"/>
              </a:rPr>
              <a:t>vědění</a:t>
            </a:r>
            <a:r>
              <a:rPr lang="cs-CZ" sz="2000" dirty="0">
                <a:latin typeface="Palatino Linotype"/>
                <a:cs typeface="Palatino Linotype"/>
              </a:rPr>
              <a:t>, které chová plnou pravdu. </a:t>
            </a:r>
          </a:p>
        </p:txBody>
      </p:sp>
    </p:spTree>
    <p:extLst>
      <p:ext uri="{BB962C8B-B14F-4D97-AF65-F5344CB8AC3E}">
        <p14:creationId xmlns:p14="http://schemas.microsoft.com/office/powerpoint/2010/main" val="3610544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4267" y="860326"/>
            <a:ext cx="7915289" cy="576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44267" y="473829"/>
            <a:ext cx="7915289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cs-CZ" sz="2400" dirty="0">
                <a:latin typeface="Palatino Linotype"/>
                <a:cs typeface="Palatino Linotype"/>
              </a:rPr>
              <a:t>(D) V dosavadních výkladech přírody chybí otázka „kvůli čemu“, co je „účelem“, tj. teleologie</a:t>
            </a:r>
          </a:p>
          <a:p>
            <a:endParaRPr lang="cs-CZ" sz="2000" dirty="0">
              <a:latin typeface="Palatino Linotype"/>
              <a:cs typeface="Palatino Linotype"/>
            </a:endParaRPr>
          </a:p>
          <a:p>
            <a:r>
              <a:rPr lang="cs-CZ" sz="2000" dirty="0">
                <a:latin typeface="Palatino Linotype"/>
                <a:cs typeface="Palatino Linotype"/>
              </a:rPr>
              <a:t>Platón, </a:t>
            </a:r>
            <a:r>
              <a:rPr lang="cs-CZ" sz="2000" i="1" dirty="0" err="1">
                <a:latin typeface="Palatino Linotype"/>
                <a:cs typeface="Palatino Linotype"/>
              </a:rPr>
              <a:t>Faidón</a:t>
            </a:r>
            <a:r>
              <a:rPr lang="cs-CZ" sz="2000" dirty="0">
                <a:latin typeface="Palatino Linotype"/>
                <a:cs typeface="Palatino Linotype"/>
              </a:rPr>
              <a:t>, 96a -99c, přel. F. Novotný (upraveno):</a:t>
            </a:r>
          </a:p>
          <a:p>
            <a:pPr algn="just"/>
            <a:r>
              <a:rPr lang="cs-CZ" sz="2000" dirty="0">
                <a:latin typeface="Palatino Linotype"/>
                <a:cs typeface="Palatino Linotype"/>
              </a:rPr>
              <a:t>„Já, </a:t>
            </a:r>
            <a:r>
              <a:rPr lang="cs-CZ" sz="2000" dirty="0" err="1">
                <a:latin typeface="Palatino Linotype"/>
                <a:cs typeface="Palatino Linotype"/>
              </a:rPr>
              <a:t>Kebéte</a:t>
            </a:r>
            <a:r>
              <a:rPr lang="cs-CZ" sz="2000" dirty="0">
                <a:latin typeface="Palatino Linotype"/>
                <a:cs typeface="Palatino Linotype"/>
              </a:rPr>
              <a:t>, když jsem byl mlád, neobyčejně jsem zatoužil po tom vědění, které nazývají </a:t>
            </a:r>
            <a:r>
              <a:rPr lang="cs-CZ" sz="2000" b="1" dirty="0">
                <a:latin typeface="Palatino Linotype"/>
                <a:cs typeface="Palatino Linotype"/>
              </a:rPr>
              <a:t>vědou o přírodě </a:t>
            </a:r>
            <a:r>
              <a:rPr lang="cs-CZ" sz="2000" dirty="0">
                <a:latin typeface="Palatino Linotype"/>
                <a:cs typeface="Palatino Linotype"/>
              </a:rPr>
              <a:t>(</a:t>
            </a:r>
            <a:r>
              <a:rPr lang="cs-CZ" sz="2000" i="1" dirty="0">
                <a:latin typeface="Palatino Linotype"/>
                <a:cs typeface="Palatino Linotype"/>
              </a:rPr>
              <a:t>peri </a:t>
            </a:r>
            <a:r>
              <a:rPr lang="cs-CZ" sz="2000" i="1" dirty="0" err="1">
                <a:latin typeface="Palatino Linotype"/>
                <a:cs typeface="Palatino Linotype"/>
              </a:rPr>
              <a:t>fyseós</a:t>
            </a:r>
            <a:r>
              <a:rPr lang="cs-CZ" sz="2000" i="1" dirty="0">
                <a:latin typeface="Palatino Linotype"/>
                <a:cs typeface="Palatino Linotype"/>
              </a:rPr>
              <a:t> </a:t>
            </a:r>
            <a:r>
              <a:rPr lang="cs-CZ" sz="2000" i="1" dirty="0" err="1">
                <a:latin typeface="Palatino Linotype"/>
                <a:cs typeface="Palatino Linotype"/>
              </a:rPr>
              <a:t>historia</a:t>
            </a:r>
            <a:r>
              <a:rPr lang="cs-CZ" sz="2000" dirty="0">
                <a:latin typeface="Palatino Linotype"/>
                <a:cs typeface="Palatino Linotype"/>
              </a:rPr>
              <a:t>); zdálo se mi totiž něčím znamenitým</a:t>
            </a:r>
            <a:r>
              <a:rPr lang="cs-CZ" sz="2000" b="1" dirty="0">
                <a:latin typeface="Palatino Linotype"/>
                <a:cs typeface="Palatino Linotype"/>
              </a:rPr>
              <a:t> znát příčiny </a:t>
            </a:r>
            <a:r>
              <a:rPr lang="cs-CZ" sz="2000" dirty="0">
                <a:latin typeface="Palatino Linotype"/>
                <a:cs typeface="Palatino Linotype"/>
              </a:rPr>
              <a:t>každé věci, čím každá věc vzniká a čím zaniká a čím jest… </a:t>
            </a:r>
          </a:p>
          <a:p>
            <a:pPr algn="just"/>
            <a:r>
              <a:rPr lang="cs-CZ" sz="2000" dirty="0">
                <a:latin typeface="Palatino Linotype"/>
                <a:cs typeface="Palatino Linotype"/>
              </a:rPr>
              <a:t>…Ale jednou jsem slyšel kohosi číst z knihy </a:t>
            </a:r>
            <a:r>
              <a:rPr lang="cs-CZ" sz="2000" dirty="0" err="1">
                <a:latin typeface="Palatino Linotype"/>
                <a:cs typeface="Palatino Linotype"/>
              </a:rPr>
              <a:t>Anaxágorovy</a:t>
            </a:r>
            <a:r>
              <a:rPr lang="cs-CZ" sz="2000" dirty="0">
                <a:latin typeface="Palatino Linotype"/>
                <a:cs typeface="Palatino Linotype"/>
              </a:rPr>
              <a:t>, že prý </a:t>
            </a:r>
            <a:r>
              <a:rPr lang="cs-CZ" sz="2000" b="1" dirty="0">
                <a:latin typeface="Palatino Linotype"/>
                <a:cs typeface="Palatino Linotype"/>
              </a:rPr>
              <a:t>rozum </a:t>
            </a:r>
            <a:r>
              <a:rPr lang="cs-CZ" sz="2000" dirty="0">
                <a:latin typeface="Palatino Linotype"/>
                <a:cs typeface="Palatino Linotype"/>
              </a:rPr>
              <a:t>(</a:t>
            </a:r>
            <a:r>
              <a:rPr lang="cs-CZ" sz="2000" i="1" dirty="0" err="1">
                <a:latin typeface="Palatino Linotype"/>
                <a:cs typeface="Palatino Linotype"/>
              </a:rPr>
              <a:t>nús</a:t>
            </a:r>
            <a:r>
              <a:rPr lang="cs-CZ" sz="2000" dirty="0">
                <a:latin typeface="Palatino Linotype"/>
                <a:cs typeface="Palatino Linotype"/>
              </a:rPr>
              <a:t>) jest to, co </a:t>
            </a:r>
            <a:r>
              <a:rPr lang="cs-CZ" sz="2000" b="1" dirty="0">
                <a:latin typeface="Palatino Linotype"/>
                <a:cs typeface="Palatino Linotype"/>
              </a:rPr>
              <a:t>působí řád </a:t>
            </a:r>
            <a:r>
              <a:rPr lang="cs-CZ" sz="2000" dirty="0">
                <a:latin typeface="Palatino Linotype"/>
                <a:cs typeface="Palatino Linotype"/>
              </a:rPr>
              <a:t>a co </a:t>
            </a:r>
            <a:r>
              <a:rPr lang="cs-CZ" sz="2000" b="1" dirty="0">
                <a:latin typeface="Palatino Linotype"/>
                <a:cs typeface="Palatino Linotype"/>
              </a:rPr>
              <a:t>je</a:t>
            </a:r>
            <a:r>
              <a:rPr lang="cs-CZ" sz="2000" dirty="0">
                <a:latin typeface="Palatino Linotype"/>
                <a:cs typeface="Palatino Linotype"/>
              </a:rPr>
              <a:t> všeho </a:t>
            </a:r>
            <a:r>
              <a:rPr lang="cs-CZ" sz="2000" b="1" dirty="0">
                <a:latin typeface="Palatino Linotype"/>
                <a:cs typeface="Palatino Linotype"/>
              </a:rPr>
              <a:t>příčinou</a:t>
            </a:r>
            <a:r>
              <a:rPr lang="cs-CZ" sz="2000" dirty="0">
                <a:latin typeface="Palatino Linotype"/>
                <a:cs typeface="Palatino Linotype"/>
              </a:rPr>
              <a:t>; tu jsem měl radost z této příčiny… chopil jsem se horlivě těch knih a četl jsem je, co nejrychleji jsem mohl…</a:t>
            </a:r>
          </a:p>
        </p:txBody>
      </p:sp>
    </p:spTree>
    <p:extLst>
      <p:ext uri="{BB962C8B-B14F-4D97-AF65-F5344CB8AC3E}">
        <p14:creationId xmlns:p14="http://schemas.microsoft.com/office/powerpoint/2010/main" val="1415804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99491" y="824031"/>
            <a:ext cx="774962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cs-CZ" sz="2000" dirty="0">
                <a:latin typeface="Palatino Linotype"/>
                <a:cs typeface="Palatino Linotype"/>
              </a:rPr>
              <a:t>…Tu však jsem se, příteli, rázem rozloučil s tou neobyčejnou nadějí, když pokračuje v čtení vidím, že ten muž k ničemu neužívá rozumu, ani mu nepřičítá žádné příčiny směřující k pořádání věcí, nýbrž že za příčiny uvádí vzduchy a </a:t>
            </a:r>
            <a:r>
              <a:rPr lang="cs-CZ" sz="2000" dirty="0" err="1">
                <a:latin typeface="Palatino Linotype"/>
                <a:cs typeface="Palatino Linotype"/>
              </a:rPr>
              <a:t>aithéry</a:t>
            </a:r>
            <a:r>
              <a:rPr lang="cs-CZ" sz="2000" dirty="0">
                <a:latin typeface="Palatino Linotype"/>
                <a:cs typeface="Palatino Linotype"/>
              </a:rPr>
              <a:t> a vody a mnoho jiných divných věcí. A zdálo se mi, že se to má s ním zcela podobně, jako kdyby někdo napřed říkal, že cokoli </a:t>
            </a:r>
            <a:r>
              <a:rPr lang="cs-CZ" sz="2000" dirty="0" err="1">
                <a:latin typeface="Palatino Linotype"/>
                <a:cs typeface="Palatino Linotype"/>
              </a:rPr>
              <a:t>Sókratés</a:t>
            </a:r>
            <a:r>
              <a:rPr lang="cs-CZ" sz="2000" dirty="0">
                <a:latin typeface="Palatino Linotype"/>
                <a:cs typeface="Palatino Linotype"/>
              </a:rPr>
              <a:t> koná, koná </a:t>
            </a:r>
            <a:r>
              <a:rPr lang="cs-CZ" sz="2000" b="1" dirty="0">
                <a:latin typeface="Palatino Linotype"/>
                <a:cs typeface="Palatino Linotype"/>
              </a:rPr>
              <a:t>všechno z rozumu</a:t>
            </a:r>
            <a:r>
              <a:rPr lang="cs-CZ" sz="2000" dirty="0">
                <a:latin typeface="Palatino Linotype"/>
                <a:cs typeface="Palatino Linotype"/>
              </a:rPr>
              <a:t>, a potom, když by se pokusil jmenovat příčiny jednotlivých mých úkonů, by řekl, nejprve že já nyní sedím (ve vězení) </a:t>
            </a:r>
            <a:r>
              <a:rPr lang="cs-CZ" sz="2000" b="1" dirty="0">
                <a:latin typeface="Palatino Linotype"/>
                <a:cs typeface="Palatino Linotype"/>
              </a:rPr>
              <a:t>z té příčiny, že se mé tělo skládá z</a:t>
            </a:r>
            <a:r>
              <a:rPr lang="cs-CZ" sz="2000" dirty="0">
                <a:latin typeface="Palatino Linotype"/>
                <a:cs typeface="Palatino Linotype"/>
              </a:rPr>
              <a:t> </a:t>
            </a:r>
            <a:r>
              <a:rPr lang="cs-CZ" sz="2000" b="1" dirty="0">
                <a:latin typeface="Palatino Linotype"/>
                <a:cs typeface="Palatino Linotype"/>
              </a:rPr>
              <a:t>kostí</a:t>
            </a:r>
            <a:r>
              <a:rPr lang="cs-CZ" sz="2000" dirty="0">
                <a:latin typeface="Palatino Linotype"/>
                <a:cs typeface="Palatino Linotype"/>
              </a:rPr>
              <a:t> a </a:t>
            </a:r>
            <a:r>
              <a:rPr lang="cs-CZ" sz="2000" b="1" dirty="0">
                <a:latin typeface="Palatino Linotype"/>
                <a:cs typeface="Palatino Linotype"/>
              </a:rPr>
              <a:t>svalů</a:t>
            </a:r>
            <a:r>
              <a:rPr lang="cs-CZ" sz="2000" dirty="0">
                <a:latin typeface="Palatino Linotype"/>
                <a:cs typeface="Palatino Linotype"/>
              </a:rPr>
              <a:t> a kosti že jsou pevné a jsou od sebe odděleny mezerami, kdežto svaly se mohou napínat a povolovat, objímajíce kosti s masem i kůží, která to drží pohromadě; když se tedy kosti ve svých spojeních pohybují sem a tam, svaly svým povolováním a napínáním patrně způsobují, že já jsem schopen ohýbat nyní své údy a pro tuto příčinu tady skrčen sedím. A proto že s vámi rozmlouvám, by pak zase jmenoval jiné takové příčiny, zvuky a vzduch i sluch a nesčíslně mnoho jiných takových věcí, ale zapomněl by jmenovat ty </a:t>
            </a:r>
            <a:r>
              <a:rPr lang="cs-CZ" sz="2000" b="1" dirty="0">
                <a:latin typeface="Palatino Linotype"/>
                <a:cs typeface="Palatino Linotype"/>
              </a:rPr>
              <a:t>opravdové příčiny</a:t>
            </a:r>
            <a:r>
              <a:rPr lang="cs-CZ" sz="2000" dirty="0">
                <a:latin typeface="Palatino Linotype"/>
                <a:cs typeface="Palatino Linotype"/>
              </a:rPr>
              <a:t>. </a:t>
            </a:r>
          </a:p>
          <a:p>
            <a:pPr algn="just"/>
            <a:endParaRPr lang="en-US" sz="2000" dirty="0">
              <a:latin typeface="Palatino Linotype"/>
              <a:cs typeface="Palatino Linotype"/>
            </a:endParaRPr>
          </a:p>
        </p:txBody>
      </p:sp>
    </p:spTree>
    <p:extLst>
      <p:ext uri="{BB962C8B-B14F-4D97-AF65-F5344CB8AC3E}">
        <p14:creationId xmlns:p14="http://schemas.microsoft.com/office/powerpoint/2010/main" val="1434351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09937" y="1072957"/>
            <a:ext cx="763917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cs-CZ" sz="2000" dirty="0">
                <a:latin typeface="Palatino Linotype"/>
                <a:cs typeface="Palatino Linotype"/>
              </a:rPr>
              <a:t>Neboť, u psa, tyhle svaly a ty kosti by byly, myslím, už dávno buď v </a:t>
            </a:r>
            <a:r>
              <a:rPr lang="cs-CZ" sz="2000" dirty="0" err="1">
                <a:latin typeface="Palatino Linotype"/>
                <a:cs typeface="Palatino Linotype"/>
              </a:rPr>
              <a:t>Megaře</a:t>
            </a:r>
            <a:r>
              <a:rPr lang="cs-CZ" sz="2000" dirty="0">
                <a:latin typeface="Palatino Linotype"/>
                <a:cs typeface="Palatino Linotype"/>
              </a:rPr>
              <a:t> nebo v </a:t>
            </a:r>
            <a:r>
              <a:rPr lang="cs-CZ" sz="2000" dirty="0" err="1">
                <a:latin typeface="Palatino Linotype"/>
                <a:cs typeface="Palatino Linotype"/>
              </a:rPr>
              <a:t>Boiótii</a:t>
            </a:r>
            <a:r>
              <a:rPr lang="cs-CZ" sz="2000" dirty="0">
                <a:latin typeface="Palatino Linotype"/>
                <a:cs typeface="Palatino Linotype"/>
              </a:rPr>
              <a:t>, kam by byly zaneseny míněním o tom, co je nejlepší, kdybych si nebyl myslil, že spravedlivější a krásnější než utíkání a prchání je učinit obci zadost a podstoupit trest, kterýkoli ona stanoví… Jestliže by někdo říkal, že kdybych neměl takové věci jako </a:t>
            </a:r>
            <a:r>
              <a:rPr lang="cs-CZ" sz="2000" b="1" dirty="0">
                <a:latin typeface="Palatino Linotype"/>
                <a:cs typeface="Palatino Linotype"/>
              </a:rPr>
              <a:t>kosti</a:t>
            </a:r>
            <a:r>
              <a:rPr lang="cs-CZ" sz="2000" dirty="0">
                <a:latin typeface="Palatino Linotype"/>
                <a:cs typeface="Palatino Linotype"/>
              </a:rPr>
              <a:t> a </a:t>
            </a:r>
            <a:r>
              <a:rPr lang="cs-CZ" sz="2000" b="1" dirty="0">
                <a:latin typeface="Palatino Linotype"/>
                <a:cs typeface="Palatino Linotype"/>
              </a:rPr>
              <a:t>svaly</a:t>
            </a:r>
            <a:r>
              <a:rPr lang="cs-CZ" sz="2000" dirty="0">
                <a:latin typeface="Palatino Linotype"/>
                <a:cs typeface="Palatino Linotype"/>
              </a:rPr>
              <a:t> a co všechno jiného mám, nebyl bych s to, abych dělal, co se mi </a:t>
            </a:r>
            <a:r>
              <a:rPr lang="cs-CZ" sz="2000" dirty="0" err="1">
                <a:latin typeface="Palatino Linotype"/>
                <a:cs typeface="Palatino Linotype"/>
              </a:rPr>
              <a:t>uzdá</a:t>
            </a:r>
            <a:r>
              <a:rPr lang="cs-CZ" sz="2000" dirty="0">
                <a:latin typeface="Palatino Linotype"/>
                <a:cs typeface="Palatino Linotype"/>
              </a:rPr>
              <a:t>, mluvil by pravdu; avšak říkat, že </a:t>
            </a:r>
            <a:r>
              <a:rPr lang="cs-CZ" sz="2000" b="1" dirty="0">
                <a:latin typeface="Palatino Linotype"/>
                <a:cs typeface="Palatino Linotype"/>
              </a:rPr>
              <a:t>ty věci jsou příčinou</a:t>
            </a:r>
            <a:r>
              <a:rPr lang="cs-CZ" sz="2000" dirty="0">
                <a:latin typeface="Palatino Linotype"/>
                <a:cs typeface="Palatino Linotype"/>
              </a:rPr>
              <a:t>, že dělám to, co dělám, a že to znamená </a:t>
            </a:r>
            <a:r>
              <a:rPr lang="cs-CZ" sz="2000" b="1" dirty="0">
                <a:latin typeface="Palatino Linotype"/>
                <a:cs typeface="Palatino Linotype"/>
              </a:rPr>
              <a:t>jednat podle rozumu</a:t>
            </a:r>
            <a:r>
              <a:rPr lang="cs-CZ" sz="2000" dirty="0">
                <a:latin typeface="Palatino Linotype"/>
                <a:cs typeface="Palatino Linotype"/>
              </a:rPr>
              <a:t>, a ne volba toho, co je nejlepší, v takové řeči by bylo mnoho a veliké lehkomyslnosti. Jak je možno nerozeznat, že něco jiného je to, </a:t>
            </a:r>
            <a:r>
              <a:rPr lang="cs-CZ" sz="2000" b="1" dirty="0">
                <a:latin typeface="Palatino Linotype"/>
                <a:cs typeface="Palatino Linotype"/>
              </a:rPr>
              <a:t>co je vskutku příčinou</a:t>
            </a:r>
            <a:r>
              <a:rPr lang="cs-CZ" sz="2000" dirty="0">
                <a:latin typeface="Palatino Linotype"/>
                <a:cs typeface="Palatino Linotype"/>
              </a:rPr>
              <a:t>, a něco jiného je to, bez čeho by příčina nikdy nebyla příčinou!... </a:t>
            </a:r>
            <a:r>
              <a:rPr lang="cs-CZ" sz="2000" b="1" dirty="0">
                <a:latin typeface="Palatino Linotype"/>
                <a:cs typeface="Palatino Linotype"/>
              </a:rPr>
              <a:t>Kdybych se mohl poučit o takovéto příčině, jak to s ní asi je, s největší radostí bych vstoupil ke komukoli do učení</a:t>
            </a:r>
            <a:r>
              <a:rPr lang="cs-CZ" sz="2000" dirty="0">
                <a:latin typeface="Palatino Linotype"/>
                <a:cs typeface="Palatino Linotype"/>
              </a:rPr>
              <a:t>…“ </a:t>
            </a:r>
            <a:endParaRPr lang="en-US" sz="2000" dirty="0">
              <a:latin typeface="Palatino Linotype"/>
              <a:cs typeface="Palatino Linotype"/>
            </a:endParaRPr>
          </a:p>
        </p:txBody>
      </p:sp>
    </p:spTree>
    <p:extLst>
      <p:ext uri="{BB962C8B-B14F-4D97-AF65-F5344CB8AC3E}">
        <p14:creationId xmlns:p14="http://schemas.microsoft.com/office/powerpoint/2010/main" val="2036988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6304" y="887167"/>
            <a:ext cx="7970513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000" dirty="0">
                <a:latin typeface="Palatino Linotype"/>
                <a:cs typeface="Palatino Linotype"/>
              </a:rPr>
              <a:t>Platón, </a:t>
            </a:r>
            <a:r>
              <a:rPr lang="cs-CZ" sz="2000" i="1" dirty="0" err="1">
                <a:latin typeface="Palatino Linotype"/>
                <a:cs typeface="Palatino Linotype"/>
              </a:rPr>
              <a:t>Timaios</a:t>
            </a:r>
            <a:r>
              <a:rPr lang="cs-CZ" sz="2000" dirty="0">
                <a:latin typeface="Palatino Linotype"/>
                <a:cs typeface="Palatino Linotype"/>
              </a:rPr>
              <a:t>, 30a2-5: </a:t>
            </a:r>
          </a:p>
          <a:p>
            <a:endParaRPr lang="cs-CZ" sz="2000" dirty="0">
              <a:latin typeface="Palatino Linotype"/>
              <a:cs typeface="Palatino Linotype"/>
            </a:endParaRPr>
          </a:p>
          <a:p>
            <a:r>
              <a:rPr lang="cs-CZ" sz="2000" dirty="0">
                <a:latin typeface="Palatino Linotype"/>
                <a:cs typeface="Palatino Linotype"/>
              </a:rPr>
              <a:t>„Poněvadž totiž bůh chtěl, aby pokud možno všechno bylo dobré a nic nebylo špatné, ale nalezl všechno, cokoli bylo viditelné, nikoli v klidu, nýbrž v nesouladném a neuspořádaném pohybu, </a:t>
            </a:r>
            <a:r>
              <a:rPr lang="cs-CZ" sz="2000" b="1" dirty="0">
                <a:latin typeface="Palatino Linotype"/>
                <a:cs typeface="Palatino Linotype"/>
              </a:rPr>
              <a:t>uvedl to z neuspořádaného stavu v řád</a:t>
            </a:r>
            <a:r>
              <a:rPr lang="cs-CZ" sz="2000" dirty="0">
                <a:latin typeface="Palatino Linotype"/>
                <a:cs typeface="Palatino Linotype"/>
              </a:rPr>
              <a:t>, pokládaje tento stav za všeobecně </a:t>
            </a:r>
            <a:r>
              <a:rPr lang="cs-CZ" sz="2000" b="1" dirty="0">
                <a:latin typeface="Palatino Linotype"/>
                <a:cs typeface="Palatino Linotype"/>
              </a:rPr>
              <a:t>lepší</a:t>
            </a:r>
            <a:r>
              <a:rPr lang="cs-CZ" sz="2000" dirty="0">
                <a:latin typeface="Palatino Linotype"/>
                <a:cs typeface="Palatino Linotype"/>
              </a:rPr>
              <a:t> než onen.“</a:t>
            </a:r>
          </a:p>
          <a:p>
            <a:endParaRPr lang="cs-CZ" dirty="0"/>
          </a:p>
          <a:p>
            <a:endParaRPr lang="cs-CZ" dirty="0"/>
          </a:p>
        </p:txBody>
      </p:sp>
      <p:pic>
        <p:nvPicPr>
          <p:cNvPr id="5" name="Obrázek 13" descr="Obsah obrázku hodiny, kreslení&#10;&#10;Popis byl vytvořen automaticky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6115" y="3128776"/>
            <a:ext cx="5811023" cy="35934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55098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6306" y="751344"/>
            <a:ext cx="7694398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000" dirty="0">
                <a:latin typeface="Palatino Linotype"/>
                <a:cs typeface="Palatino Linotype"/>
              </a:rPr>
              <a:t>Platón, </a:t>
            </a:r>
            <a:r>
              <a:rPr lang="cs-CZ" sz="2000" i="1" dirty="0" err="1">
                <a:latin typeface="Palatino Linotype"/>
                <a:cs typeface="Palatino Linotype"/>
              </a:rPr>
              <a:t>Timaios</a:t>
            </a:r>
            <a:r>
              <a:rPr lang="cs-CZ" sz="2000" dirty="0">
                <a:latin typeface="Palatino Linotype"/>
                <a:cs typeface="Palatino Linotype"/>
              </a:rPr>
              <a:t>, 90e-92c:</a:t>
            </a:r>
          </a:p>
          <a:p>
            <a:endParaRPr lang="cs-CZ" sz="2000" dirty="0">
              <a:latin typeface="Palatino Linotype"/>
              <a:cs typeface="Palatino Linotype"/>
            </a:endParaRPr>
          </a:p>
          <a:p>
            <a:pPr algn="just"/>
            <a:r>
              <a:rPr lang="cs-CZ" sz="2000" dirty="0">
                <a:latin typeface="Palatino Linotype"/>
                <a:cs typeface="Palatino Linotype"/>
              </a:rPr>
              <a:t>„Nuže nyní, jak se podobá, jest skoro u konce výklad, který jsme na počátku ohlásili, o všehomíru až po stvoření člověka. Jen stručně jest totiž ještě připomenouti, </a:t>
            </a:r>
            <a:r>
              <a:rPr lang="cs-CZ" sz="2000" b="1" dirty="0">
                <a:latin typeface="Palatino Linotype"/>
                <a:cs typeface="Palatino Linotype"/>
              </a:rPr>
              <a:t>jak vznikli ostatní živočichové</a:t>
            </a:r>
            <a:r>
              <a:rPr lang="cs-CZ" sz="2000" dirty="0">
                <a:latin typeface="Palatino Linotype"/>
                <a:cs typeface="Palatino Linotype"/>
              </a:rPr>
              <a:t> (</a:t>
            </a:r>
            <a:r>
              <a:rPr lang="cs-CZ" sz="2000" i="1" dirty="0" err="1">
                <a:latin typeface="Palatino Linotype"/>
                <a:cs typeface="Palatino Linotype"/>
              </a:rPr>
              <a:t>zóia</a:t>
            </a:r>
            <a:r>
              <a:rPr lang="cs-CZ" sz="2000" dirty="0">
                <a:latin typeface="Palatino Linotype"/>
                <a:cs typeface="Palatino Linotype"/>
              </a:rPr>
              <a:t>), a naprosto není třeba se o tom šířiti; krátká míra řeči o těchto tvorech by se zajisté každému zdála vhodnější. O této otázce řekneme tedy toto: ze všech stvořených </a:t>
            </a:r>
            <a:r>
              <a:rPr lang="cs-CZ" sz="2000" b="1" dirty="0">
                <a:latin typeface="Palatino Linotype"/>
                <a:cs typeface="Palatino Linotype"/>
              </a:rPr>
              <a:t>mužů</a:t>
            </a:r>
            <a:r>
              <a:rPr lang="cs-CZ" sz="2000" dirty="0">
                <a:latin typeface="Palatino Linotype"/>
                <a:cs typeface="Palatino Linotype"/>
              </a:rPr>
              <a:t>, kteří se ukázali zbabělí a prošli život nespravedlivě, tvořily se při druhém rození pravděpodobně ženy... </a:t>
            </a:r>
            <a:r>
              <a:rPr lang="cs-CZ" sz="2000" b="1" dirty="0">
                <a:latin typeface="Palatino Linotype"/>
                <a:cs typeface="Palatino Linotype"/>
              </a:rPr>
              <a:t>Ženy</a:t>
            </a:r>
            <a:r>
              <a:rPr lang="cs-CZ" sz="2000" dirty="0">
                <a:latin typeface="Palatino Linotype"/>
                <a:cs typeface="Palatino Linotype"/>
              </a:rPr>
              <a:t> a všechno ženské pohlaví vzniklo tedy tímto způsobem; avšak čeleď </a:t>
            </a:r>
            <a:r>
              <a:rPr lang="cs-CZ" sz="2000" b="1" dirty="0">
                <a:latin typeface="Palatino Linotype"/>
                <a:cs typeface="Palatino Linotype"/>
              </a:rPr>
              <a:t>ptáků</a:t>
            </a:r>
            <a:r>
              <a:rPr lang="cs-CZ" sz="2000" dirty="0">
                <a:latin typeface="Palatino Linotype"/>
                <a:cs typeface="Palatino Linotype"/>
              </a:rPr>
              <a:t> vznikla, obrůstajíc místo vlasy peřím, přetvořováním z mužů ne právě špatných, ale lehkých a takových, kteří se sice zabývají nadpozemskými zjevy, ale </a:t>
            </a:r>
            <a:r>
              <a:rPr lang="cs-CZ" sz="2000" b="1" dirty="0">
                <a:latin typeface="Palatino Linotype"/>
                <a:cs typeface="Palatino Linotype"/>
              </a:rPr>
              <a:t>ve své pošetilosti se domnívají, že zrak podává o těch věcech nejpevnější důkazy</a:t>
            </a:r>
            <a:r>
              <a:rPr lang="cs-CZ" sz="2000" dirty="0">
                <a:latin typeface="Palatino Linotype"/>
                <a:cs typeface="Palatino Linotype"/>
              </a:rPr>
              <a:t>. </a:t>
            </a:r>
            <a:endParaRPr lang="en-US" sz="2000" dirty="0">
              <a:latin typeface="Palatino Linotype"/>
              <a:cs typeface="Palatino Linotype"/>
            </a:endParaRPr>
          </a:p>
        </p:txBody>
      </p:sp>
    </p:spTree>
    <p:extLst>
      <p:ext uri="{BB962C8B-B14F-4D97-AF65-F5344CB8AC3E}">
        <p14:creationId xmlns:p14="http://schemas.microsoft.com/office/powerpoint/2010/main" val="1304443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42780" y="1039164"/>
            <a:ext cx="7599958" cy="5061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717898" y="1341220"/>
            <a:ext cx="782483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cs-CZ" sz="2000" b="1" dirty="0">
                <a:latin typeface="Palatino Linotype"/>
                <a:cs typeface="Palatino Linotype"/>
              </a:rPr>
              <a:t>Zvířata</a:t>
            </a:r>
            <a:r>
              <a:rPr lang="cs-CZ" sz="2000" dirty="0">
                <a:latin typeface="Palatino Linotype"/>
                <a:cs typeface="Palatino Linotype"/>
              </a:rPr>
              <a:t> pak </a:t>
            </a:r>
            <a:r>
              <a:rPr lang="cs-CZ" sz="2000" b="1" dirty="0">
                <a:latin typeface="Palatino Linotype"/>
                <a:cs typeface="Palatino Linotype"/>
              </a:rPr>
              <a:t>čtyřnohá</a:t>
            </a:r>
            <a:r>
              <a:rPr lang="cs-CZ" sz="2000" dirty="0">
                <a:latin typeface="Palatino Linotype"/>
                <a:cs typeface="Palatino Linotype"/>
              </a:rPr>
              <a:t> pozemská i divoká vznikla </a:t>
            </a:r>
            <a:r>
              <a:rPr lang="cs-CZ" sz="2000" b="1" dirty="0">
                <a:latin typeface="Palatino Linotype"/>
                <a:cs typeface="Palatino Linotype"/>
              </a:rPr>
              <a:t>z lidí nijak se nezabývající filosofií</a:t>
            </a:r>
            <a:r>
              <a:rPr lang="cs-CZ" sz="2000" dirty="0">
                <a:latin typeface="Palatino Linotype"/>
                <a:cs typeface="Palatino Linotype"/>
              </a:rPr>
              <a:t> a nemajících naprosto vědeckého zájmu o přírodu... Čtvrtý pak druh, </a:t>
            </a:r>
            <a:r>
              <a:rPr lang="cs-CZ" sz="2000" b="1" dirty="0">
                <a:latin typeface="Palatino Linotype"/>
                <a:cs typeface="Palatino Linotype"/>
              </a:rPr>
              <a:t>zvířata vodní</a:t>
            </a:r>
            <a:r>
              <a:rPr lang="cs-CZ" sz="2000" dirty="0">
                <a:latin typeface="Palatino Linotype"/>
                <a:cs typeface="Palatino Linotype"/>
              </a:rPr>
              <a:t>, vznikl </a:t>
            </a:r>
            <a:r>
              <a:rPr lang="cs-CZ" sz="2000" b="1" dirty="0">
                <a:latin typeface="Palatino Linotype"/>
                <a:cs typeface="Palatino Linotype"/>
              </a:rPr>
              <a:t>z lidí naprosto nerozumných a nevědomých</a:t>
            </a:r>
            <a:r>
              <a:rPr lang="cs-CZ" sz="2000" dirty="0">
                <a:latin typeface="Palatino Linotype"/>
                <a:cs typeface="Palatino Linotype"/>
              </a:rPr>
              <a:t>, kterých už neuznali pomocníci boha</a:t>
            </a:r>
            <a:r>
              <a:rPr lang="cs-CZ" sz="2000" i="1" dirty="0">
                <a:latin typeface="Palatino Linotype"/>
                <a:cs typeface="Palatino Linotype"/>
              </a:rPr>
              <a:t> </a:t>
            </a:r>
            <a:r>
              <a:rPr lang="cs-CZ" sz="2000" dirty="0">
                <a:latin typeface="Palatino Linotype"/>
                <a:cs typeface="Palatino Linotype"/>
              </a:rPr>
              <a:t>ani za hodny čistého dechu, poněvadž měli duši v nečistém stavu od všelikých chyb, nýbrž místo aby jim dali dýchati jemný a čistý vzduch, svrhli je do rmutné a hluboké vody, aby tu vdechovali; tím vznikl rod ryb, veškerých ústřic i všech ostatních vodních živočichů, jimž se dostalo </a:t>
            </a:r>
            <a:r>
              <a:rPr lang="cs-CZ" sz="2000" b="1" dirty="0">
                <a:latin typeface="Palatino Linotype"/>
                <a:cs typeface="Palatino Linotype"/>
              </a:rPr>
              <a:t>za trest pro jejich nejhorší nevědomost</a:t>
            </a:r>
            <a:r>
              <a:rPr lang="cs-CZ" sz="2000" dirty="0">
                <a:latin typeface="Palatino Linotype"/>
                <a:cs typeface="Palatino Linotype"/>
              </a:rPr>
              <a:t> nejhorších příbytků. Tímto způsobem nyní jako tehdy přecházejí zvířata navzájem do jiných a jiných rodů, přeměňujíce se </a:t>
            </a:r>
            <a:r>
              <a:rPr lang="cs-CZ" sz="2000" b="1" dirty="0">
                <a:latin typeface="Palatino Linotype"/>
                <a:cs typeface="Palatino Linotype"/>
              </a:rPr>
              <a:t>podle ztráty a nabývání rozumu a nerozumnosti</a:t>
            </a:r>
            <a:r>
              <a:rPr lang="cs-CZ" sz="2000" dirty="0">
                <a:latin typeface="Palatino Linotype"/>
                <a:cs typeface="Palatino Linotype"/>
              </a:rPr>
              <a:t>.</a:t>
            </a:r>
            <a:r>
              <a:rPr lang="cs-CZ" sz="2000" i="1" dirty="0">
                <a:latin typeface="Palatino Linotype"/>
                <a:cs typeface="Palatino Linotype"/>
              </a:rPr>
              <a:t>“</a:t>
            </a:r>
            <a:endParaRPr lang="cs-CZ" sz="2000" dirty="0">
              <a:latin typeface="Palatino Linotype"/>
              <a:cs typeface="Palatino Linotype"/>
            </a:endParaRPr>
          </a:p>
        </p:txBody>
      </p:sp>
    </p:spTree>
    <p:extLst>
      <p:ext uri="{BB962C8B-B14F-4D97-AF65-F5344CB8AC3E}">
        <p14:creationId xmlns:p14="http://schemas.microsoft.com/office/powerpoint/2010/main" val="497545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38789" y="1334345"/>
            <a:ext cx="7547137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2000" dirty="0">
                <a:latin typeface="Palatino Linotype"/>
                <a:cs typeface="Palatino Linotype"/>
              </a:rPr>
              <a:t>Platón, </a:t>
            </a:r>
            <a:r>
              <a:rPr lang="cs-CZ" sz="2000" i="1" dirty="0" err="1">
                <a:latin typeface="Palatino Linotype"/>
                <a:cs typeface="Palatino Linotype"/>
              </a:rPr>
              <a:t>Timaios</a:t>
            </a:r>
            <a:r>
              <a:rPr lang="cs-CZ" sz="2000" dirty="0">
                <a:latin typeface="Palatino Linotype"/>
                <a:cs typeface="Palatino Linotype"/>
              </a:rPr>
              <a:t>, 47b-c:</a:t>
            </a:r>
          </a:p>
          <a:p>
            <a:endParaRPr lang="cs-CZ" sz="2000" dirty="0">
              <a:latin typeface="Palatino Linotype"/>
              <a:cs typeface="Palatino Linotype"/>
            </a:endParaRPr>
          </a:p>
          <a:p>
            <a:pPr algn="just"/>
            <a:r>
              <a:rPr lang="cs-CZ" sz="2000" dirty="0">
                <a:latin typeface="Palatino Linotype"/>
                <a:cs typeface="Palatino Linotype"/>
              </a:rPr>
              <a:t>„...</a:t>
            </a:r>
            <a:r>
              <a:rPr lang="cs-CZ" sz="2000" b="1" dirty="0">
                <a:latin typeface="Palatino Linotype"/>
                <a:cs typeface="Palatino Linotype"/>
              </a:rPr>
              <a:t>Bůh</a:t>
            </a:r>
            <a:r>
              <a:rPr lang="cs-CZ" sz="2000" dirty="0">
                <a:latin typeface="Palatino Linotype"/>
                <a:cs typeface="Palatino Linotype"/>
              </a:rPr>
              <a:t> nám proto </a:t>
            </a:r>
            <a:r>
              <a:rPr lang="cs-CZ" sz="2000" b="1" dirty="0">
                <a:latin typeface="Palatino Linotype"/>
                <a:cs typeface="Palatino Linotype"/>
              </a:rPr>
              <a:t>vynalezl a daroval zrak</a:t>
            </a:r>
            <a:r>
              <a:rPr lang="cs-CZ" sz="2000" dirty="0">
                <a:latin typeface="Palatino Linotype"/>
                <a:cs typeface="Palatino Linotype"/>
              </a:rPr>
              <a:t>, </a:t>
            </a:r>
            <a:r>
              <a:rPr lang="cs-CZ" sz="2000" b="1" dirty="0">
                <a:latin typeface="Palatino Linotype"/>
                <a:cs typeface="Palatino Linotype"/>
              </a:rPr>
              <a:t>abychom</a:t>
            </a:r>
            <a:r>
              <a:rPr lang="cs-CZ" sz="2000" dirty="0">
                <a:latin typeface="Palatino Linotype"/>
                <a:cs typeface="Palatino Linotype"/>
              </a:rPr>
              <a:t> vidouce dráhy rozumu na nebi, užili jich pro </a:t>
            </a:r>
            <a:r>
              <a:rPr lang="cs-CZ" sz="2000" b="1" dirty="0">
                <a:latin typeface="Palatino Linotype"/>
                <a:cs typeface="Palatino Linotype"/>
              </a:rPr>
              <a:t>oběhy myšlení v nás</a:t>
            </a:r>
            <a:r>
              <a:rPr lang="cs-CZ" sz="2000" dirty="0">
                <a:latin typeface="Palatino Linotype"/>
                <a:cs typeface="Palatino Linotype"/>
              </a:rPr>
              <a:t>, které jsou s oněmi sourodé, - ač jsou samy plny poruch a ony bez poruchy – a abychom </a:t>
            </a:r>
            <a:r>
              <a:rPr lang="cs-CZ" sz="2000" dirty="0" err="1">
                <a:latin typeface="Palatino Linotype"/>
                <a:cs typeface="Palatino Linotype"/>
              </a:rPr>
              <a:t>poznajíce</a:t>
            </a:r>
            <a:r>
              <a:rPr lang="cs-CZ" sz="2000" dirty="0">
                <a:latin typeface="Palatino Linotype"/>
                <a:cs typeface="Palatino Linotype"/>
              </a:rPr>
              <a:t> to a </a:t>
            </a:r>
            <a:r>
              <a:rPr lang="cs-CZ" sz="2000" dirty="0" err="1">
                <a:latin typeface="Palatino Linotype"/>
                <a:cs typeface="Palatino Linotype"/>
              </a:rPr>
              <a:t>nabydouce</a:t>
            </a:r>
            <a:r>
              <a:rPr lang="cs-CZ" sz="2000" dirty="0">
                <a:latin typeface="Palatino Linotype"/>
                <a:cs typeface="Palatino Linotype"/>
              </a:rPr>
              <a:t> účasti v přirozené přesnosti </a:t>
            </a:r>
            <a:r>
              <a:rPr lang="cs-CZ" sz="2000" b="1" dirty="0">
                <a:latin typeface="Palatino Linotype"/>
                <a:cs typeface="Palatino Linotype"/>
              </a:rPr>
              <a:t>vědeckého myšlení</a:t>
            </a:r>
            <a:r>
              <a:rPr lang="cs-CZ" sz="2000" dirty="0">
                <a:latin typeface="Palatino Linotype"/>
                <a:cs typeface="Palatino Linotype"/>
              </a:rPr>
              <a:t> napodobováním cest božích, prostých všeho bloudění, </a:t>
            </a:r>
            <a:r>
              <a:rPr lang="cs-CZ" sz="2000" b="1" dirty="0">
                <a:latin typeface="Palatino Linotype"/>
                <a:cs typeface="Palatino Linotype"/>
              </a:rPr>
              <a:t>uspořádali bludné cesty ve svém nitru</a:t>
            </a:r>
            <a:r>
              <a:rPr lang="cs-CZ" sz="2000" dirty="0">
                <a:latin typeface="Palatino Linotype"/>
                <a:cs typeface="Palatino Linotype"/>
              </a:rPr>
              <a:t>. Co se pak týče zvuku a sluchu, opět lze říci totéž, že jsou dány od bohů k týmž úkonům a za týmž účelem.“ </a:t>
            </a:r>
            <a:endParaRPr lang="en-US" sz="2000" dirty="0">
              <a:latin typeface="Palatino Linotype"/>
              <a:cs typeface="Palatino Linotype"/>
            </a:endParaRPr>
          </a:p>
        </p:txBody>
      </p:sp>
    </p:spTree>
    <p:extLst>
      <p:ext uri="{BB962C8B-B14F-4D97-AF65-F5344CB8AC3E}">
        <p14:creationId xmlns:p14="http://schemas.microsoft.com/office/powerpoint/2010/main" val="19057283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75605" y="491306"/>
            <a:ext cx="7307837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cs-CZ" sz="2000" b="1" dirty="0">
                <a:latin typeface="Palatino Linotype"/>
                <a:cs typeface="Palatino Linotype"/>
              </a:rPr>
              <a:t>SHRNUTÍ</a:t>
            </a:r>
          </a:p>
          <a:p>
            <a:pPr algn="ctr"/>
            <a:endParaRPr lang="cs-CZ" sz="2000" dirty="0">
              <a:latin typeface="Palatino Linotype"/>
              <a:cs typeface="Palatino Linotype"/>
            </a:endParaRPr>
          </a:p>
          <a:p>
            <a:pPr algn="just"/>
            <a:r>
              <a:rPr lang="cs-CZ" sz="2000" dirty="0">
                <a:latin typeface="Palatino Linotype"/>
                <a:cs typeface="Palatino Linotype"/>
              </a:rPr>
              <a:t>Platónovy námitky vůči (empiricky založenému) zkoumání přírody:</a:t>
            </a:r>
          </a:p>
          <a:p>
            <a:r>
              <a:rPr lang="cs-CZ" sz="2000" dirty="0">
                <a:latin typeface="Palatino Linotype"/>
                <a:cs typeface="Palatino Linotype"/>
              </a:rPr>
              <a:t> </a:t>
            </a:r>
          </a:p>
          <a:p>
            <a:pPr marL="457200" lvl="0" indent="-457200">
              <a:buAutoNum type="alphaUcParenBoth"/>
            </a:pPr>
            <a:r>
              <a:rPr lang="cs-CZ" sz="2000" dirty="0">
                <a:latin typeface="Palatino Linotype"/>
                <a:cs typeface="Palatino Linotype"/>
              </a:rPr>
              <a:t>Nemůžeme poznat nic, co už neznáme („</a:t>
            </a:r>
            <a:r>
              <a:rPr lang="cs-CZ" sz="2000" dirty="0" err="1">
                <a:latin typeface="Palatino Linotype"/>
                <a:cs typeface="Palatino Linotype"/>
              </a:rPr>
              <a:t>Menónův</a:t>
            </a:r>
            <a:r>
              <a:rPr lang="cs-CZ" sz="2000" dirty="0">
                <a:latin typeface="Palatino Linotype"/>
                <a:cs typeface="Palatino Linotype"/>
              </a:rPr>
              <a:t> paradox“) =&gt; poznání pochází z rozpomínání</a:t>
            </a:r>
          </a:p>
          <a:p>
            <a:pPr marL="457200" lvl="0" indent="-457200">
              <a:buAutoNum type="alphaUcParenBoth"/>
            </a:pPr>
            <a:endParaRPr lang="cs-CZ" sz="2000" dirty="0">
              <a:latin typeface="Palatino Linotype"/>
              <a:cs typeface="Palatino Linotype"/>
            </a:endParaRPr>
          </a:p>
          <a:p>
            <a:pPr marL="457200" lvl="0" indent="-457200">
              <a:buAutoNum type="alphaUcParenBoth"/>
            </a:pPr>
            <a:r>
              <a:rPr lang="cs-CZ" sz="2000" dirty="0">
                <a:latin typeface="Palatino Linotype"/>
                <a:cs typeface="Palatino Linotype"/>
              </a:rPr>
              <a:t>Pokud můžeme něco poznat, nemůžeme to být smysly (tj. indukcí), ale pouze rozumem (tj. dedukcí).</a:t>
            </a:r>
          </a:p>
          <a:p>
            <a:pPr marL="457200" lvl="0" indent="-457200">
              <a:buAutoNum type="alphaUcParenBoth"/>
            </a:pPr>
            <a:endParaRPr lang="cs-CZ" sz="2000" dirty="0">
              <a:latin typeface="Palatino Linotype"/>
              <a:cs typeface="Palatino Linotype"/>
            </a:endParaRPr>
          </a:p>
          <a:p>
            <a:pPr marL="457200" lvl="0" indent="-457200">
              <a:buAutoNum type="alphaUcParenBoth"/>
            </a:pPr>
            <a:r>
              <a:rPr lang="cs-CZ" sz="2000" dirty="0">
                <a:latin typeface="Palatino Linotype"/>
                <a:cs typeface="Palatino Linotype"/>
              </a:rPr>
              <a:t>Poznat s jistotou lze pouze to, co je věčné a neměnné (jak tvrdil již </a:t>
            </a:r>
            <a:r>
              <a:rPr lang="cs-CZ" sz="2000" dirty="0" err="1">
                <a:latin typeface="Palatino Linotype"/>
                <a:cs typeface="Palatino Linotype"/>
              </a:rPr>
              <a:t>Parmenidés</a:t>
            </a:r>
            <a:r>
              <a:rPr lang="cs-CZ" sz="2000" dirty="0">
                <a:latin typeface="Palatino Linotype"/>
                <a:cs typeface="Palatino Linotype"/>
              </a:rPr>
              <a:t>). Proměnlivé (tj. vznikající a zanikající) nelze poznat vůbec, nebo pouze přibližně (vědění vs. mínění).</a:t>
            </a:r>
          </a:p>
          <a:p>
            <a:pPr marL="457200" lvl="0" indent="-457200">
              <a:buAutoNum type="alphaUcParenBoth"/>
            </a:pPr>
            <a:endParaRPr lang="cs-CZ" sz="2000" dirty="0">
              <a:latin typeface="Palatino Linotype"/>
              <a:cs typeface="Palatino Linotype"/>
            </a:endParaRPr>
          </a:p>
          <a:p>
            <a:pPr marL="457200" lvl="0" indent="-457200">
              <a:buAutoNum type="alphaUcParenBoth"/>
            </a:pPr>
            <a:r>
              <a:rPr lang="cs-CZ" sz="2000" dirty="0">
                <a:latin typeface="Palatino Linotype"/>
                <a:cs typeface="Palatino Linotype"/>
              </a:rPr>
              <a:t>Výklad přírody a světa, nakolik je vůbec možný, musí vycházet od otázky: „kvůli čemu“, co je „účelem“, „k jakému dobru to směřuje“, tj. musí být teleologický. </a:t>
            </a:r>
          </a:p>
        </p:txBody>
      </p:sp>
    </p:spTree>
    <p:extLst>
      <p:ext uri="{BB962C8B-B14F-4D97-AF65-F5344CB8AC3E}">
        <p14:creationId xmlns:p14="http://schemas.microsoft.com/office/powerpoint/2010/main" val="2911084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1333</TotalTime>
  <Words>3078</Words>
  <Application>Microsoft Macintosh PowerPoint</Application>
  <PresentationFormat>Předvádění na obrazovce (4:3)</PresentationFormat>
  <Paragraphs>129</Paragraphs>
  <Slides>21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21</vt:i4>
      </vt:variant>
    </vt:vector>
  </HeadingPairs>
  <TitlesOfParts>
    <vt:vector size="25" baseType="lpstr">
      <vt:lpstr>Arial</vt:lpstr>
      <vt:lpstr>Calibri</vt:lpstr>
      <vt:lpstr>Palatino Linotype</vt:lpstr>
      <vt:lpstr>Office Theme</vt:lpstr>
      <vt:lpstr>Poznání u Platóna</vt:lpstr>
      <vt:lpstr>Paradox Théseovy lodi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UK FHS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Poznání u Platóna</dc:title>
  <dc:creator>Hynek  Bartoš</dc:creator>
  <cp:lastModifiedBy>Hynek Bartoš</cp:lastModifiedBy>
  <cp:revision>57</cp:revision>
  <dcterms:created xsi:type="dcterms:W3CDTF">2021-10-08T08:56:35Z</dcterms:created>
  <dcterms:modified xsi:type="dcterms:W3CDTF">2023-09-18T11:02:33Z</dcterms:modified>
</cp:coreProperties>
</file>